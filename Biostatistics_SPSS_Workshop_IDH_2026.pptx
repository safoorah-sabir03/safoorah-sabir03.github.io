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5" r:id="rId40"/>
    <p:sldId id="294" r:id="rId4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9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8970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libguides.library.kent.edu/SPSS/RecodeVariables" TargetMode="Externa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bright_modern_classroom_lecture_scene_in_a_batch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606461"/>
            <a:ext cx="6476695" cy="364507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596128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85800" y="91440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12A7A3">
              <a:alpha val="92000"/>
            </a:srgbClr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95528" y="987552"/>
            <a:ext cx="10149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8288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Biostatistics &amp;</a:t>
            </a:r>
            <a:endParaRPr lang="en-US" sz="3700" dirty="0"/>
          </a:p>
          <a:p>
            <a:pPr marL="0" indent="0">
              <a:buNone/>
            </a:pPr>
            <a:r>
              <a:rPr lang="en-US" sz="3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SPSS Workshop</a:t>
            </a:r>
            <a:endParaRPr lang="en-US" sz="3700" dirty="0"/>
          </a:p>
        </p:txBody>
      </p:sp>
      <p:sp>
        <p:nvSpPr>
          <p:cNvPr id="8" name="Text 5"/>
          <p:cNvSpPr/>
          <p:nvPr/>
        </p:nvSpPr>
        <p:spPr>
          <a:xfrm>
            <a:off x="713232" y="33192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37381"/>
                </a:solidFill>
              </a:rPr>
              <a:t>Clear concepts • correct test choice • practical analysis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94944" y="3895344"/>
            <a:ext cx="2103120" cy="0"/>
          </a:xfrm>
          <a:prstGeom prst="line">
            <a:avLst/>
          </a:prstGeom>
          <a:noFill/>
          <a:ln w="38100">
            <a:solidFill>
              <a:srgbClr val="12A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13232" y="513892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23A5D"/>
                </a:solidFill>
              </a:rPr>
              <a:t>Presented by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23A5D"/>
                </a:solidFill>
              </a:rPr>
              <a:t>Safoorah Sabir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13232" y="5669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37381"/>
                </a:solidFill>
              </a:rPr>
              <a:t>Senior Lecturer Statistics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AF3FE"/>
          </a:solidFill>
          <a:ln w="12700">
            <a:solidFill>
              <a:srgbClr val="EAF3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373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31089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workshop matters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850392"/>
            <a:ext cx="1828800" cy="0"/>
          </a:xfrm>
          <a:prstGeom prst="line">
            <a:avLst/>
          </a:prstGeom>
          <a:noFill/>
          <a:ln w="31750">
            <a:solidFill>
              <a:srgbClr val="12A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mnt/data/bright_clean_clinical_medical_workspace_scene_pho_batch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2042497"/>
            <a:ext cx="4114800" cy="231580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85800" y="1143000"/>
            <a:ext cx="29718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50392" y="1307592"/>
            <a:ext cx="384048" cy="384048"/>
          </a:xfrm>
          <a:prstGeom prst="ellipse">
            <a:avLst/>
          </a:prstGeom>
          <a:solidFill>
            <a:srgbClr val="12A7A3">
              <a:alpha val="95000"/>
            </a:srgbClr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50392" y="13898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344168" y="13258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data to answer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86968" y="1764792"/>
            <a:ext cx="256946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 patient records, forms and scores into clear summaries and decisions.</a:t>
            </a:r>
            <a:endParaRPr lang="en-US" sz="1420" dirty="0"/>
          </a:p>
        </p:txBody>
      </p:sp>
      <p:sp>
        <p:nvSpPr>
          <p:cNvPr id="14" name="Shape 11"/>
          <p:cNvSpPr/>
          <p:nvPr/>
        </p:nvSpPr>
        <p:spPr>
          <a:xfrm>
            <a:off x="685800" y="2743200"/>
            <a:ext cx="29718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50392" y="2907792"/>
            <a:ext cx="384048" cy="384048"/>
          </a:xfrm>
          <a:prstGeom prst="ellipse">
            <a:avLst/>
          </a:prstGeom>
          <a:solidFill>
            <a:srgbClr val="2B78C2">
              <a:alpha val="95000"/>
            </a:srgbClr>
          </a:solidFill>
          <a:ln w="12700">
            <a:solidFill>
              <a:srgbClr val="2B78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50392" y="2990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344168" y="29260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Avoid wrong tests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886968" y="3364992"/>
            <a:ext cx="256946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correct analysis according to variable type and study question.</a:t>
            </a:r>
            <a:endParaRPr lang="en-US" sz="1420" dirty="0"/>
          </a:p>
        </p:txBody>
      </p:sp>
      <p:sp>
        <p:nvSpPr>
          <p:cNvPr id="19" name="Shape 16"/>
          <p:cNvSpPr/>
          <p:nvPr/>
        </p:nvSpPr>
        <p:spPr>
          <a:xfrm>
            <a:off x="3886200" y="1143000"/>
            <a:ext cx="29718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050792" y="1307592"/>
            <a:ext cx="384048" cy="384048"/>
          </a:xfrm>
          <a:prstGeom prst="ellipse">
            <a:avLst/>
          </a:prstGeom>
          <a:solidFill>
            <a:srgbClr val="7868C9">
              <a:alpha val="95000"/>
            </a:srgbClr>
          </a:solidFill>
          <a:ln w="12700">
            <a:solidFill>
              <a:srgbClr val="7868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050792" y="13898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44568" y="13258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SPSS with confidence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4087368" y="1764792"/>
            <a:ext cx="256946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 data correctly, select menus and read key output.</a:t>
            </a:r>
            <a:endParaRPr lang="en-US" sz="1420" dirty="0"/>
          </a:p>
        </p:txBody>
      </p:sp>
      <p:sp>
        <p:nvSpPr>
          <p:cNvPr id="24" name="Shape 21"/>
          <p:cNvSpPr/>
          <p:nvPr/>
        </p:nvSpPr>
        <p:spPr>
          <a:xfrm>
            <a:off x="3886200" y="2743200"/>
            <a:ext cx="29718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050792" y="2907792"/>
            <a:ext cx="384048" cy="384048"/>
          </a:xfrm>
          <a:prstGeom prst="ellipse">
            <a:avLst/>
          </a:prstGeom>
          <a:solidFill>
            <a:srgbClr val="F3B041">
              <a:alpha val="95000"/>
            </a:srgbClr>
          </a:solidFill>
          <a:ln w="12700">
            <a:solidFill>
              <a:srgbClr val="F3B04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050792" y="2990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544568" y="29260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 simply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4087368" y="3364992"/>
            <a:ext cx="256946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results in a clean format that readers can understand.</a:t>
            </a:r>
            <a:endParaRPr lang="en-US" sz="1420" dirty="0"/>
          </a:p>
        </p:txBody>
      </p:sp>
      <p:sp>
        <p:nvSpPr>
          <p:cNvPr id="29" name="Text 26"/>
          <p:cNvSpPr/>
          <p:nvPr/>
        </p:nvSpPr>
        <p:spPr>
          <a:xfrm>
            <a:off x="731520" y="4937760"/>
            <a:ext cx="105156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23A5D"/>
                </a:solidFill>
              </a:rPr>
              <a:t>Main idea: statistics is not only calculation — it is a way to answer clinical questions responsibly.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AF3FE"/>
          </a:solidFill>
          <a:ln w="12700">
            <a:solidFill>
              <a:srgbClr val="EAF3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373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31089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Workshop roadmap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850392"/>
            <a:ext cx="1828800" cy="0"/>
          </a:xfrm>
          <a:prstGeom prst="line">
            <a:avLst/>
          </a:prstGeom>
          <a:noFill/>
          <a:ln w="31750">
            <a:solidFill>
              <a:srgbClr val="12A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1280160"/>
            <a:ext cx="2423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41832" y="1444752"/>
            <a:ext cx="384048" cy="384048"/>
          </a:xfrm>
          <a:prstGeom prst="ellipse">
            <a:avLst/>
          </a:prstGeom>
          <a:solidFill>
            <a:srgbClr val="12A7A3">
              <a:alpha val="95000"/>
            </a:srgbClr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41832" y="152704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35608" y="14630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Variables &amp; data types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78408" y="1901952"/>
            <a:ext cx="202082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know, when to use it.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566160" y="1280160"/>
            <a:ext cx="2423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730752" y="1444752"/>
            <a:ext cx="384048" cy="384048"/>
          </a:xfrm>
          <a:prstGeom prst="ellipse">
            <a:avLst/>
          </a:prstGeom>
          <a:solidFill>
            <a:srgbClr val="2B78C2">
              <a:alpha val="95000"/>
            </a:srgbClr>
          </a:solidFill>
          <a:ln w="12700">
            <a:solidFill>
              <a:srgbClr val="2B78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30752" y="152704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24528" y="14630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SPSS data setup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767328" y="1901952"/>
            <a:ext cx="202082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know, when to use it.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55080" y="1280160"/>
            <a:ext cx="2423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519672" y="1444752"/>
            <a:ext cx="384048" cy="384048"/>
          </a:xfrm>
          <a:prstGeom prst="ellipse">
            <a:avLst/>
          </a:prstGeom>
          <a:solidFill>
            <a:srgbClr val="12A7A3">
              <a:alpha val="95000"/>
            </a:srgbClr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19672" y="152704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13448" y="14630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Descriptive statistics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556248" y="1901952"/>
            <a:ext cx="202082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know, when to use it.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144000" y="1280160"/>
            <a:ext cx="2423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308592" y="1444752"/>
            <a:ext cx="384048" cy="384048"/>
          </a:xfrm>
          <a:prstGeom prst="ellipse">
            <a:avLst/>
          </a:prstGeom>
          <a:solidFill>
            <a:srgbClr val="2B78C2">
              <a:alpha val="95000"/>
            </a:srgbClr>
          </a:solidFill>
          <a:ln w="12700">
            <a:solidFill>
              <a:srgbClr val="2B78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308592" y="152704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802368" y="14630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Sampling &amp; inference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345168" y="1901952"/>
            <a:ext cx="202082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know, when to use it.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77240" y="3200400"/>
            <a:ext cx="2423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41832" y="3364992"/>
            <a:ext cx="384048" cy="384048"/>
          </a:xfrm>
          <a:prstGeom prst="ellipse">
            <a:avLst/>
          </a:prstGeom>
          <a:solidFill>
            <a:srgbClr val="12A7A3">
              <a:alpha val="95000"/>
            </a:srgbClr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41832" y="34472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435608" y="33832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Hypothesis testing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978408" y="3822192"/>
            <a:ext cx="202082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know, when to use it.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566160" y="3200400"/>
            <a:ext cx="2423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730752" y="3364992"/>
            <a:ext cx="384048" cy="384048"/>
          </a:xfrm>
          <a:prstGeom prst="ellipse">
            <a:avLst/>
          </a:prstGeom>
          <a:solidFill>
            <a:srgbClr val="2B78C2">
              <a:alpha val="95000"/>
            </a:srgbClr>
          </a:solidFill>
          <a:ln w="12700">
            <a:solidFill>
              <a:srgbClr val="2B78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730752" y="34472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224528" y="33832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statistical tests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3767328" y="3822192"/>
            <a:ext cx="202082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know, when to use it.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355080" y="3200400"/>
            <a:ext cx="2423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519672" y="3364992"/>
            <a:ext cx="384048" cy="384048"/>
          </a:xfrm>
          <a:prstGeom prst="ellipse">
            <a:avLst/>
          </a:prstGeom>
          <a:solidFill>
            <a:srgbClr val="12A7A3">
              <a:alpha val="95000"/>
            </a:srgbClr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519672" y="34472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013448" y="33832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Reporting &amp; practice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6556248" y="3822192"/>
            <a:ext cx="202082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know, when to use it.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914400" y="57150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37381"/>
                </a:solidFill>
              </a:rPr>
              <a:t>The order moves from “What is my data?” to “Which test should I apply?”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AF3FE"/>
          </a:solidFill>
          <a:ln w="12700">
            <a:solidFill>
              <a:srgbClr val="EAF3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373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31089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outcomes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850392"/>
            <a:ext cx="1828800" cy="0"/>
          </a:xfrm>
          <a:prstGeom prst="line">
            <a:avLst/>
          </a:prstGeom>
          <a:noFill/>
          <a:ln w="31750">
            <a:solidFill>
              <a:srgbClr val="12A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1344168"/>
            <a:ext cx="109728" cy="109728"/>
          </a:xfrm>
          <a:prstGeom prst="ellipse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06424" y="1234440"/>
            <a:ext cx="1036929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qualitative, quantitative, continuous and discrete variables.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68680" y="2002536"/>
            <a:ext cx="109728" cy="109728"/>
          </a:xfrm>
          <a:prstGeom prst="ellipse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06424" y="1892808"/>
            <a:ext cx="1036929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variable names, labels, values and measurement scale in SPSS.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68680" y="2660904"/>
            <a:ext cx="109728" cy="109728"/>
          </a:xfrm>
          <a:prstGeom prst="ellipse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06424" y="2551176"/>
            <a:ext cx="1036929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Summarize data using mean, median, mode, variance and standard deviation.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68680" y="3319272"/>
            <a:ext cx="109728" cy="109728"/>
          </a:xfrm>
          <a:prstGeom prst="ellipse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06424" y="3209544"/>
            <a:ext cx="1036929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sampling, inference and hypothesis testing in simple words.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68680" y="3977640"/>
            <a:ext cx="109728" cy="109728"/>
          </a:xfrm>
          <a:prstGeom prst="ellipse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06424" y="3867912"/>
            <a:ext cx="1036929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between t-tests, ANOVA, chi-square and regression for common questions.</a:t>
            </a:r>
            <a:endParaRPr lang="en-US" sz="2000" dirty="0"/>
          </a:p>
        </p:txBody>
      </p:sp>
      <p:pic>
        <p:nvPicPr>
          <p:cNvPr id="18" name="Image 0" descr="/mnt/data/wide_clean_vector_illustration_scene_of_a_modern_batch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9101" y="4251960"/>
            <a:ext cx="3086999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AF3FE"/>
          </a:solidFill>
          <a:ln w="12700">
            <a:solidFill>
              <a:srgbClr val="EAF3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373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31089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a question to an answer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850392"/>
            <a:ext cx="1828800" cy="0"/>
          </a:xfrm>
          <a:prstGeom prst="line">
            <a:avLst/>
          </a:prstGeom>
          <a:noFill/>
          <a:ln w="31750">
            <a:solidFill>
              <a:srgbClr val="12A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94360" y="1874520"/>
            <a:ext cx="19202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95528" y="2048256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95528" y="2496312"/>
            <a:ext cx="1517904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 I want to know?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79192" y="2331720"/>
            <a:ext cx="201168" cy="201168"/>
          </a:xfrm>
          <a:prstGeom prst="chevron">
            <a:avLst/>
          </a:prstGeom>
          <a:solidFill>
            <a:srgbClr val="D7E3EF"/>
          </a:solidFill>
          <a:ln w="12700">
            <a:solidFill>
              <a:srgbClr val="D7E3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926080" y="1874520"/>
            <a:ext cx="19202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127248" y="2048256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127248" y="2496312"/>
            <a:ext cx="1517904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variables?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10912" y="2331720"/>
            <a:ext cx="201168" cy="201168"/>
          </a:xfrm>
          <a:prstGeom prst="chevron">
            <a:avLst/>
          </a:prstGeom>
          <a:solidFill>
            <a:srgbClr val="D7E3EF"/>
          </a:solidFill>
          <a:ln w="12700">
            <a:solidFill>
              <a:srgbClr val="D7E3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257800" y="1874520"/>
            <a:ext cx="19202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58968" y="2048256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458968" y="2496312"/>
            <a:ext cx="1517904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SPSS sheet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42632" y="2331720"/>
            <a:ext cx="201168" cy="201168"/>
          </a:xfrm>
          <a:prstGeom prst="chevron">
            <a:avLst/>
          </a:prstGeom>
          <a:solidFill>
            <a:srgbClr val="D7E3EF"/>
          </a:solidFill>
          <a:ln w="12700">
            <a:solidFill>
              <a:srgbClr val="D7E3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589520" y="1874520"/>
            <a:ext cx="19202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90688" y="2048256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Analyze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790688" y="2496312"/>
            <a:ext cx="1517904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correct test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674352" y="2331720"/>
            <a:ext cx="201168" cy="201168"/>
          </a:xfrm>
          <a:prstGeom prst="chevron">
            <a:avLst/>
          </a:prstGeom>
          <a:solidFill>
            <a:srgbClr val="D7E3EF"/>
          </a:solidFill>
          <a:ln w="12700">
            <a:solidFill>
              <a:srgbClr val="D7E3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921240" y="1874520"/>
            <a:ext cx="19202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122408" y="2048256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0122408" y="2496312"/>
            <a:ext cx="1517904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result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463040" y="4434840"/>
            <a:ext cx="9235440" cy="731520"/>
          </a:xfrm>
          <a:prstGeom prst="roundRect">
            <a:avLst>
              <a:gd name="adj" fmla="val 10000"/>
            </a:avLst>
          </a:prstGeom>
          <a:solidFill>
            <a:srgbClr val="EAF8F6"/>
          </a:solidFill>
          <a:ln w="12700">
            <a:solidFill>
              <a:srgbClr val="EAF8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691640" y="4617720"/>
            <a:ext cx="8778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3A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question: Is the average pain score lower after treatment than before treatment?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flat_vector_infographic_illustration_on_batch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73714"/>
            <a:ext cx="5882335" cy="331057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26364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21792" y="1078992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12A7A3">
              <a:alpha val="92000"/>
            </a:srgbClr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1520" y="1152144"/>
            <a:ext cx="13350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21792" y="20574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1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Biostatistics basics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58368" y="3246120"/>
            <a:ext cx="5212080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637381"/>
                </a:solidFill>
              </a:rPr>
              <a:t>Understand the language of variables before opening SPSS.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40080" y="63550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37381"/>
                </a:solidFill>
              </a:rPr>
              <a:t>Biostatistics &amp; SPSS Workshop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AF3FE"/>
          </a:solidFill>
          <a:ln w="12700">
            <a:solidFill>
              <a:srgbClr val="EAF3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373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31089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biostatistics?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850392"/>
            <a:ext cx="1828800" cy="0"/>
          </a:xfrm>
          <a:prstGeom prst="line">
            <a:avLst/>
          </a:prstGeom>
          <a:noFill/>
          <a:ln w="31750">
            <a:solidFill>
              <a:srgbClr val="12A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1234440"/>
            <a:ext cx="36576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0392" y="1399032"/>
            <a:ext cx="384048" cy="384048"/>
          </a:xfrm>
          <a:prstGeom prst="ellipse">
            <a:avLst/>
          </a:prstGeom>
          <a:solidFill>
            <a:srgbClr val="12A7A3">
              <a:alpha val="95000"/>
            </a:srgbClr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50392" y="148132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44168" y="1417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Simple definition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86968" y="1856232"/>
            <a:ext cx="3255264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Biostatistics uses numbers, summaries and tests to answer health-related questions from data.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3337560"/>
            <a:ext cx="36576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50392" y="3502152"/>
            <a:ext cx="384048" cy="384048"/>
          </a:xfrm>
          <a:prstGeom prst="ellipse">
            <a:avLst/>
          </a:prstGeom>
          <a:solidFill>
            <a:srgbClr val="2B78C2">
              <a:alpha val="95000"/>
            </a:srgbClr>
          </a:solidFill>
          <a:ln w="12700">
            <a:solidFill>
              <a:srgbClr val="2B78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50392" y="358444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→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44168" y="3520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 practice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86968" y="3959352"/>
            <a:ext cx="3255264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helps us describe patients, compare groups and study relationships between variables.</a:t>
            </a:r>
            <a:endParaRPr lang="en-US" sz="1500" dirty="0"/>
          </a:p>
        </p:txBody>
      </p:sp>
      <p:pic>
        <p:nvPicPr>
          <p:cNvPr id="18" name="Image 0" descr="/mnt/data/a_clean_flat_vector_illustration_style_infographi_batch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567851"/>
            <a:ext cx="6126480" cy="34479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AF3FE"/>
          </a:solidFill>
          <a:ln w="12700">
            <a:solidFill>
              <a:srgbClr val="EAF3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373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31089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Qualitative vs quantitative variables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850392"/>
            <a:ext cx="1828800" cy="0"/>
          </a:xfrm>
          <a:prstGeom prst="line">
            <a:avLst/>
          </a:prstGeom>
          <a:noFill/>
          <a:ln w="31750">
            <a:solidFill>
              <a:srgbClr val="12A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EAF8F6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96112" y="1307592"/>
            <a:ext cx="384048" cy="384048"/>
          </a:xfrm>
          <a:prstGeom prst="ellipse">
            <a:avLst/>
          </a:prstGeom>
          <a:solidFill>
            <a:srgbClr val="12A7A3">
              <a:alpha val="95000"/>
            </a:srgbClr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96112" y="13898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89888" y="1325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Qualitative variables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2688" y="1764792"/>
            <a:ext cx="4809744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Categories or names.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gender, blood group, brushing habit, satisfaction level.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342900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EAF3FE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96112" y="3593592"/>
            <a:ext cx="384048" cy="384048"/>
          </a:xfrm>
          <a:prstGeom prst="ellipse">
            <a:avLst/>
          </a:prstGeom>
          <a:solidFill>
            <a:srgbClr val="2B78C2">
              <a:alpha val="95000"/>
            </a:srgbClr>
          </a:solidFill>
          <a:ln w="12700">
            <a:solidFill>
              <a:srgbClr val="2B78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96112" y="36758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#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89888" y="3611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Quantitative variables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32688" y="4050792"/>
            <a:ext cx="4809744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Numbers that can be measured or counted.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age, pain score, mouth opening in mm, appointment duration.</a:t>
            </a:r>
            <a:endParaRPr lang="en-US" sz="1600" dirty="0"/>
          </a:p>
        </p:txBody>
      </p:sp>
      <p:pic>
        <p:nvPicPr>
          <p:cNvPr id="18" name="Image 0" descr="/mnt/data/a_clean_flat_vector_infographic_illustration_on_batch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933830"/>
            <a:ext cx="4663440" cy="26245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AF3FE"/>
          </a:solidFill>
          <a:ln w="12700">
            <a:solidFill>
              <a:srgbClr val="EAF3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373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31089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Continuous vs discrete variables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850392"/>
            <a:ext cx="1828800" cy="0"/>
          </a:xfrm>
          <a:prstGeom prst="line">
            <a:avLst/>
          </a:prstGeom>
          <a:noFill/>
          <a:ln w="31750">
            <a:solidFill>
              <a:srgbClr val="12A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114300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EAF8F6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41832" y="1307592"/>
            <a:ext cx="384048" cy="384048"/>
          </a:xfrm>
          <a:prstGeom prst="ellipse">
            <a:avLst/>
          </a:prstGeom>
          <a:solidFill>
            <a:srgbClr val="12A7A3">
              <a:alpha val="95000"/>
            </a:srgbClr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41832" y="13898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∞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35608" y="13258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Continuous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78408" y="1764792"/>
            <a:ext cx="4626864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on a scale and can have decimals.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age, weight, time, pocket depth in mm.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55080" y="114300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EAF3FE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519672" y="1307592"/>
            <a:ext cx="384048" cy="384048"/>
          </a:xfrm>
          <a:prstGeom prst="ellipse">
            <a:avLst/>
          </a:prstGeom>
          <a:solidFill>
            <a:srgbClr val="2B78C2">
              <a:alpha val="95000"/>
            </a:srgbClr>
          </a:solidFill>
          <a:ln w="12700">
            <a:solidFill>
              <a:srgbClr val="2B78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19672" y="13898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013448" y="13258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Discrete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56248" y="1764792"/>
            <a:ext cx="4626864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Counted as whole numbers.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number of visits, number of missing teeth, number of medicines.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97280" y="4297680"/>
            <a:ext cx="9966960" cy="0"/>
          </a:xfrm>
          <a:prstGeom prst="line">
            <a:avLst/>
          </a:prstGeom>
          <a:noFill/>
          <a:ln w="2540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05840" y="4663440"/>
            <a:ext cx="101498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3A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rule: measured = continuous; counted = discrete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AF3FE"/>
          </a:solidFill>
          <a:ln w="12700">
            <a:solidFill>
              <a:srgbClr val="EAF3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373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31089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Dependent vs independent variables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850392"/>
            <a:ext cx="1828800" cy="0"/>
          </a:xfrm>
          <a:prstGeom prst="line">
            <a:avLst/>
          </a:prstGeom>
          <a:noFill/>
          <a:ln w="31750">
            <a:solidFill>
              <a:srgbClr val="12A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118872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EAF8F6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41832" y="1353312"/>
            <a:ext cx="384048" cy="384048"/>
          </a:xfrm>
          <a:prstGeom prst="ellipse">
            <a:avLst/>
          </a:prstGeom>
          <a:solidFill>
            <a:srgbClr val="12A7A3">
              <a:alpha val="95000"/>
            </a:srgbClr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41832" y="143560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35608" y="13716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Independent variable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78408" y="1810512"/>
            <a:ext cx="4718304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factor or group that may explain a change.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treatment type, age group, brushing frequency.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55080" y="118872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EAF3FE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519672" y="1353312"/>
            <a:ext cx="384048" cy="384048"/>
          </a:xfrm>
          <a:prstGeom prst="ellipse">
            <a:avLst/>
          </a:prstGeom>
          <a:solidFill>
            <a:srgbClr val="2B78C2">
              <a:alpha val="95000"/>
            </a:srgbClr>
          </a:solidFill>
          <a:ln w="12700">
            <a:solidFill>
              <a:srgbClr val="2B78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19672" y="143560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013448" y="13716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Dependent variable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56248" y="1810512"/>
            <a:ext cx="4718304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outcome we measure.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pain score, plaque score, healing time, satisfaction.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897880" y="1947672"/>
            <a:ext cx="164592" cy="164592"/>
          </a:xfrm>
          <a:prstGeom prst="chevron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34440" y="464515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23A5D"/>
                </a:solidFill>
              </a:rPr>
              <a:t>Example: Does mouthwash type change plaque score?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1188720" y="523036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37381"/>
                </a:solidFill>
              </a:rPr>
              <a:t>Mouthwash type = independent variable    |    Plaque score = dependent variable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AF3FE"/>
          </a:solidFill>
          <a:ln w="12700">
            <a:solidFill>
              <a:srgbClr val="EAF3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373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SPSS SETUP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31089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types in SPSS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850392"/>
            <a:ext cx="1828800" cy="0"/>
          </a:xfrm>
          <a:prstGeom prst="line">
            <a:avLst/>
          </a:prstGeom>
          <a:noFill/>
          <a:ln w="31750">
            <a:solidFill>
              <a:srgbClr val="12A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mnt/data/a_clean_flat_modern_vector_illustration_scene_a_batch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222299"/>
            <a:ext cx="4754880" cy="267604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85800" y="1188720"/>
            <a:ext cx="2743200" cy="1216152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50392" y="1353312"/>
            <a:ext cx="384048" cy="384048"/>
          </a:xfrm>
          <a:prstGeom prst="ellipse">
            <a:avLst/>
          </a:prstGeom>
          <a:solidFill>
            <a:srgbClr val="12A7A3">
              <a:alpha val="95000"/>
            </a:srgbClr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50392" y="143560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344168" y="1371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Numeric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86968" y="1810512"/>
            <a:ext cx="234086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Numbers used for analysis: age, pain score, visits.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657600" y="1188720"/>
            <a:ext cx="2743200" cy="1216152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822192" y="1353312"/>
            <a:ext cx="384048" cy="384048"/>
          </a:xfrm>
          <a:prstGeom prst="ellipse">
            <a:avLst/>
          </a:prstGeom>
          <a:solidFill>
            <a:srgbClr val="2B78C2">
              <a:alpha val="95000"/>
            </a:srgbClr>
          </a:solidFill>
          <a:ln w="12700">
            <a:solidFill>
              <a:srgbClr val="2B78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822192" y="143560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315968" y="1371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String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3858768" y="1810512"/>
            <a:ext cx="234086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or labels: name, city, remarks. Not ideal for tests.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5800" y="2880360"/>
            <a:ext cx="2743200" cy="1216152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50392" y="3044952"/>
            <a:ext cx="384048" cy="384048"/>
          </a:xfrm>
          <a:prstGeom prst="ellipse">
            <a:avLst/>
          </a:prstGeom>
          <a:solidFill>
            <a:srgbClr val="7868C9">
              <a:alpha val="95000"/>
            </a:srgbClr>
          </a:solidFill>
          <a:ln w="12700">
            <a:solidFill>
              <a:srgbClr val="7868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50392" y="312724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344168" y="3063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Date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886968" y="3502152"/>
            <a:ext cx="234086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Dates of visit, procedure or follow-up.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3657600" y="2880360"/>
            <a:ext cx="2743200" cy="1216152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3822192" y="3044952"/>
            <a:ext cx="384048" cy="384048"/>
          </a:xfrm>
          <a:prstGeom prst="ellipse">
            <a:avLst/>
          </a:prstGeom>
          <a:solidFill>
            <a:srgbClr val="F3B041">
              <a:alpha val="95000"/>
            </a:srgbClr>
          </a:solidFill>
          <a:ln w="12700">
            <a:solidFill>
              <a:srgbClr val="F3B04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822192" y="312724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$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315968" y="3063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Comma / Dollar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3858768" y="3502152"/>
            <a:ext cx="234086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 formats; usually not needed for basic analysis.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097280" y="5230368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3A5D"/>
                </a:solidFill>
              </a:rPr>
              <a:t>Tip: use numeric coding for categories whenever possible.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AF3FE"/>
          </a:solidFill>
          <a:ln w="12700">
            <a:solidFill>
              <a:srgbClr val="EAF3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373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SPSS SETUP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31089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SPSS Variable View: key columns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850392"/>
            <a:ext cx="1828800" cy="0"/>
          </a:xfrm>
          <a:prstGeom prst="line">
            <a:avLst/>
          </a:prstGeom>
          <a:noFill/>
          <a:ln w="31750">
            <a:solidFill>
              <a:srgbClr val="12A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1143000"/>
            <a:ext cx="10469880" cy="3749040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1270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5800" y="1143000"/>
            <a:ext cx="2011680" cy="457200"/>
          </a:xfrm>
          <a:prstGeom prst="rect">
            <a:avLst/>
          </a:prstGeom>
          <a:solidFill>
            <a:srgbClr val="EAF8F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58952" y="1271016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3A5D"/>
                </a:solidFill>
              </a:rPr>
              <a:t>Question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97480" y="1143000"/>
            <a:ext cx="2743200" cy="457200"/>
          </a:xfrm>
          <a:prstGeom prst="rect">
            <a:avLst/>
          </a:prstGeom>
          <a:solidFill>
            <a:srgbClr val="EAF3F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70632" y="1271016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3A5D"/>
                </a:solidFill>
              </a:rPr>
              <a:t>Groups / Data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40680" y="1143000"/>
            <a:ext cx="2743200" cy="457200"/>
          </a:xfrm>
          <a:prstGeom prst="rect">
            <a:avLst/>
          </a:prstGeom>
          <a:solidFill>
            <a:srgbClr val="EAF8F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13832" y="1271016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3A5D"/>
                </a:solidFill>
              </a:rPr>
              <a:t>Outcome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83880" y="1143000"/>
            <a:ext cx="2286000" cy="457200"/>
          </a:xfrm>
          <a:prstGeom prst="rect">
            <a:avLst/>
          </a:prstGeom>
          <a:solidFill>
            <a:srgbClr val="EAF3F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57032" y="1271016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3A5D"/>
                </a:solidFill>
              </a:rPr>
              <a:t>Test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" y="1600200"/>
            <a:ext cx="2011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68096" y="1682496"/>
            <a:ext cx="1847088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D3D"/>
                </a:solidFill>
              </a:rPr>
              <a:t>Name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2697480" y="1600200"/>
            <a:ext cx="2743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79776" y="1682496"/>
            <a:ext cx="2578608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D3D"/>
                </a:solidFill>
              </a:rPr>
              <a:t>Short variable name: age, gender, pain_pre</a:t>
            </a:r>
            <a:endParaRPr lang="en-US" sz="1040" dirty="0"/>
          </a:p>
        </p:txBody>
      </p:sp>
      <p:sp>
        <p:nvSpPr>
          <p:cNvPr id="21" name="Shape 19"/>
          <p:cNvSpPr/>
          <p:nvPr/>
        </p:nvSpPr>
        <p:spPr>
          <a:xfrm>
            <a:off x="5440680" y="1600200"/>
            <a:ext cx="2743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522976" y="1682496"/>
            <a:ext cx="2578608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endParaRPr lang="en-US" sz="1040" dirty="0"/>
          </a:p>
        </p:txBody>
      </p:sp>
      <p:sp>
        <p:nvSpPr>
          <p:cNvPr id="23" name="Shape 21"/>
          <p:cNvSpPr/>
          <p:nvPr/>
        </p:nvSpPr>
        <p:spPr>
          <a:xfrm>
            <a:off x="8183880" y="1600200"/>
            <a:ext cx="2286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66176" y="1682496"/>
            <a:ext cx="2121408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endParaRPr lang="en-US" sz="1040" dirty="0"/>
          </a:p>
        </p:txBody>
      </p:sp>
      <p:sp>
        <p:nvSpPr>
          <p:cNvPr id="25" name="Shape 23"/>
          <p:cNvSpPr/>
          <p:nvPr/>
        </p:nvSpPr>
        <p:spPr>
          <a:xfrm>
            <a:off x="685800" y="2258568"/>
            <a:ext cx="2011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68096" y="2340864"/>
            <a:ext cx="1847088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D3D"/>
                </a:solidFill>
              </a:rPr>
              <a:t>Type</a:t>
            </a:r>
            <a:endParaRPr lang="en-US" sz="1040" dirty="0"/>
          </a:p>
        </p:txBody>
      </p:sp>
      <p:sp>
        <p:nvSpPr>
          <p:cNvPr id="27" name="Shape 25"/>
          <p:cNvSpPr/>
          <p:nvPr/>
        </p:nvSpPr>
        <p:spPr>
          <a:xfrm>
            <a:off x="2697480" y="2258568"/>
            <a:ext cx="2743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79776" y="2340864"/>
            <a:ext cx="2578608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D3D"/>
                </a:solidFill>
              </a:rPr>
              <a:t>Numeric, string, date</a:t>
            </a:r>
            <a:endParaRPr lang="en-US" sz="1040" dirty="0"/>
          </a:p>
        </p:txBody>
      </p:sp>
      <p:sp>
        <p:nvSpPr>
          <p:cNvPr id="29" name="Shape 27"/>
          <p:cNvSpPr/>
          <p:nvPr/>
        </p:nvSpPr>
        <p:spPr>
          <a:xfrm>
            <a:off x="5440680" y="2258568"/>
            <a:ext cx="2743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522976" y="2340864"/>
            <a:ext cx="2578608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endParaRPr lang="en-US" sz="1040" dirty="0"/>
          </a:p>
        </p:txBody>
      </p:sp>
      <p:sp>
        <p:nvSpPr>
          <p:cNvPr id="31" name="Shape 29"/>
          <p:cNvSpPr/>
          <p:nvPr/>
        </p:nvSpPr>
        <p:spPr>
          <a:xfrm>
            <a:off x="8183880" y="2258568"/>
            <a:ext cx="2286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266176" y="2340864"/>
            <a:ext cx="2121408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endParaRPr lang="en-US" sz="1040" dirty="0"/>
          </a:p>
        </p:txBody>
      </p:sp>
      <p:sp>
        <p:nvSpPr>
          <p:cNvPr id="33" name="Shape 31"/>
          <p:cNvSpPr/>
          <p:nvPr/>
        </p:nvSpPr>
        <p:spPr>
          <a:xfrm>
            <a:off x="685800" y="2916936"/>
            <a:ext cx="2011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68096" y="2999232"/>
            <a:ext cx="1847088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D3D"/>
                </a:solidFill>
              </a:rPr>
              <a:t>Label</a:t>
            </a:r>
            <a:endParaRPr lang="en-US" sz="1040" dirty="0"/>
          </a:p>
        </p:txBody>
      </p:sp>
      <p:sp>
        <p:nvSpPr>
          <p:cNvPr id="35" name="Shape 33"/>
          <p:cNvSpPr/>
          <p:nvPr/>
        </p:nvSpPr>
        <p:spPr>
          <a:xfrm>
            <a:off x="2697480" y="2916936"/>
            <a:ext cx="2743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779776" y="2999232"/>
            <a:ext cx="2578608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D3D"/>
                </a:solidFill>
              </a:rPr>
              <a:t>Full explanation of the variable</a:t>
            </a:r>
            <a:endParaRPr lang="en-US" sz="1040" dirty="0"/>
          </a:p>
        </p:txBody>
      </p:sp>
      <p:sp>
        <p:nvSpPr>
          <p:cNvPr id="37" name="Shape 35"/>
          <p:cNvSpPr/>
          <p:nvPr/>
        </p:nvSpPr>
        <p:spPr>
          <a:xfrm>
            <a:off x="5440680" y="2916936"/>
            <a:ext cx="2743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522976" y="2999232"/>
            <a:ext cx="2578608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endParaRPr lang="en-US" sz="1040" dirty="0"/>
          </a:p>
        </p:txBody>
      </p:sp>
      <p:sp>
        <p:nvSpPr>
          <p:cNvPr id="39" name="Shape 37"/>
          <p:cNvSpPr/>
          <p:nvPr/>
        </p:nvSpPr>
        <p:spPr>
          <a:xfrm>
            <a:off x="8183880" y="2916936"/>
            <a:ext cx="2286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266176" y="2999232"/>
            <a:ext cx="2121408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endParaRPr lang="en-US" sz="1040" dirty="0"/>
          </a:p>
        </p:txBody>
      </p:sp>
      <p:sp>
        <p:nvSpPr>
          <p:cNvPr id="41" name="Shape 39"/>
          <p:cNvSpPr/>
          <p:nvPr/>
        </p:nvSpPr>
        <p:spPr>
          <a:xfrm>
            <a:off x="685800" y="3575304"/>
            <a:ext cx="2011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68096" y="3657600"/>
            <a:ext cx="1847088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D3D"/>
                </a:solidFill>
              </a:rPr>
              <a:t>Values</a:t>
            </a:r>
            <a:endParaRPr lang="en-US" sz="1040" dirty="0"/>
          </a:p>
        </p:txBody>
      </p:sp>
      <p:sp>
        <p:nvSpPr>
          <p:cNvPr id="43" name="Shape 41"/>
          <p:cNvSpPr/>
          <p:nvPr/>
        </p:nvSpPr>
        <p:spPr>
          <a:xfrm>
            <a:off x="2697480" y="3575304"/>
            <a:ext cx="2743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779776" y="3657600"/>
            <a:ext cx="2578608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D3D"/>
                </a:solidFill>
              </a:rPr>
              <a:t>Coding for categories: 1 = Male, 2 = Female</a:t>
            </a:r>
            <a:endParaRPr lang="en-US" sz="1040" dirty="0"/>
          </a:p>
        </p:txBody>
      </p:sp>
      <p:sp>
        <p:nvSpPr>
          <p:cNvPr id="45" name="Shape 43"/>
          <p:cNvSpPr/>
          <p:nvPr/>
        </p:nvSpPr>
        <p:spPr>
          <a:xfrm>
            <a:off x="5440680" y="3575304"/>
            <a:ext cx="2743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522976" y="3657600"/>
            <a:ext cx="2578608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endParaRPr lang="en-US" sz="1040" dirty="0"/>
          </a:p>
        </p:txBody>
      </p:sp>
      <p:sp>
        <p:nvSpPr>
          <p:cNvPr id="47" name="Shape 45"/>
          <p:cNvSpPr/>
          <p:nvPr/>
        </p:nvSpPr>
        <p:spPr>
          <a:xfrm>
            <a:off x="8183880" y="3575304"/>
            <a:ext cx="2286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266176" y="3657600"/>
            <a:ext cx="2121408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endParaRPr lang="en-US" sz="1040" dirty="0"/>
          </a:p>
        </p:txBody>
      </p:sp>
      <p:sp>
        <p:nvSpPr>
          <p:cNvPr id="49" name="Shape 47"/>
          <p:cNvSpPr/>
          <p:nvPr/>
        </p:nvSpPr>
        <p:spPr>
          <a:xfrm>
            <a:off x="685800" y="4233672"/>
            <a:ext cx="2011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68096" y="4315968"/>
            <a:ext cx="1847088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D3D"/>
                </a:solidFill>
              </a:rPr>
              <a:t>Measure</a:t>
            </a:r>
            <a:endParaRPr lang="en-US" sz="1040" dirty="0"/>
          </a:p>
        </p:txBody>
      </p:sp>
      <p:sp>
        <p:nvSpPr>
          <p:cNvPr id="51" name="Shape 49"/>
          <p:cNvSpPr/>
          <p:nvPr/>
        </p:nvSpPr>
        <p:spPr>
          <a:xfrm>
            <a:off x="2697480" y="4233672"/>
            <a:ext cx="2743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2779776" y="4315968"/>
            <a:ext cx="2578608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D3D"/>
                </a:solidFill>
              </a:rPr>
              <a:t>Nominal, ordinal or scale</a:t>
            </a:r>
            <a:endParaRPr lang="en-US" sz="1040" dirty="0"/>
          </a:p>
        </p:txBody>
      </p:sp>
      <p:sp>
        <p:nvSpPr>
          <p:cNvPr id="53" name="Shape 51"/>
          <p:cNvSpPr/>
          <p:nvPr/>
        </p:nvSpPr>
        <p:spPr>
          <a:xfrm>
            <a:off x="5440680" y="4233672"/>
            <a:ext cx="2743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522976" y="4315968"/>
            <a:ext cx="2578608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endParaRPr lang="en-US" sz="1040" dirty="0"/>
          </a:p>
        </p:txBody>
      </p:sp>
      <p:sp>
        <p:nvSpPr>
          <p:cNvPr id="55" name="Shape 53"/>
          <p:cNvSpPr/>
          <p:nvPr/>
        </p:nvSpPr>
        <p:spPr>
          <a:xfrm>
            <a:off x="8183880" y="4233672"/>
            <a:ext cx="2286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8266176" y="4315968"/>
            <a:ext cx="2121408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endParaRPr lang="en-US" sz="1040" dirty="0"/>
          </a:p>
        </p:txBody>
      </p:sp>
      <p:sp>
        <p:nvSpPr>
          <p:cNvPr id="57" name="Text 55"/>
          <p:cNvSpPr/>
          <p:nvPr/>
        </p:nvSpPr>
        <p:spPr>
          <a:xfrm>
            <a:off x="1005840" y="550468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3A5D"/>
                </a:solidFill>
              </a:rPr>
              <a:t>Good setup makes analysis easier and reduces mistakes.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AF3FE"/>
          </a:solidFill>
          <a:ln w="12700">
            <a:solidFill>
              <a:srgbClr val="EAF3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373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SPSS SETUP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31089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Measurement scale: nominal, ordinal, scale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850392"/>
            <a:ext cx="1828800" cy="0"/>
          </a:xfrm>
          <a:prstGeom prst="line">
            <a:avLst/>
          </a:prstGeom>
          <a:noFill/>
          <a:ln w="31750">
            <a:solidFill>
              <a:srgbClr val="12A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123444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EAF8F6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41832" y="1399032"/>
            <a:ext cx="384048" cy="384048"/>
          </a:xfrm>
          <a:prstGeom prst="ellipse">
            <a:avLst/>
          </a:prstGeom>
          <a:solidFill>
            <a:srgbClr val="12A7A3">
              <a:alpha val="95000"/>
            </a:srgbClr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41832" y="148132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35608" y="14173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Nominal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78408" y="1856232"/>
            <a:ext cx="3026664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Categories with no order.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gender, treatment group, yes/no.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89120" y="123444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EAF3FE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53712" y="1399032"/>
            <a:ext cx="384048" cy="384048"/>
          </a:xfrm>
          <a:prstGeom prst="ellipse">
            <a:avLst/>
          </a:prstGeom>
          <a:solidFill>
            <a:srgbClr val="2B78C2">
              <a:alpha val="95000"/>
            </a:srgbClr>
          </a:solidFill>
          <a:ln w="12700">
            <a:solidFill>
              <a:srgbClr val="2B78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53712" y="148132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47488" y="14173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Ordinal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90288" y="1856232"/>
            <a:ext cx="3026664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Categories with order.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mild / moderate / severe, satisfaction level.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01000" y="123444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2F0FF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165592" y="1399032"/>
            <a:ext cx="384048" cy="384048"/>
          </a:xfrm>
          <a:prstGeom prst="ellipse">
            <a:avLst/>
          </a:prstGeom>
          <a:solidFill>
            <a:srgbClr val="7868C9">
              <a:alpha val="95000"/>
            </a:srgbClr>
          </a:solidFill>
          <a:ln w="12700">
            <a:solidFill>
              <a:srgbClr val="7868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165592" y="148132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59368" y="14173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02168" y="1856232"/>
            <a:ext cx="3026664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Numerical measurement.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age, pain score, plaque score, time in minutes.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4400" y="48920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23A5D"/>
                </a:solidFill>
              </a:rPr>
              <a:t>SPSS uses measurement scale to guide summaries and graphs.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AF3FE"/>
          </a:solidFill>
          <a:ln w="12700">
            <a:solidFill>
              <a:srgbClr val="EAF3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373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SPSS SETUP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31089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choose the correct measurement scale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850392"/>
            <a:ext cx="1828800" cy="0"/>
          </a:xfrm>
          <a:prstGeom prst="line">
            <a:avLst/>
          </a:prstGeom>
          <a:noFill/>
          <a:ln w="31750">
            <a:solidFill>
              <a:srgbClr val="12A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1097280"/>
            <a:ext cx="1115568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" y="1097280"/>
            <a:ext cx="2011680" cy="457200"/>
          </a:xfrm>
          <a:prstGeom prst="rect">
            <a:avLst/>
          </a:prstGeom>
          <a:solidFill>
            <a:srgbClr val="EAF8F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76072" y="1225296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3A5D"/>
                </a:solidFill>
              </a:rPr>
              <a:t>Question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14600" y="1097280"/>
            <a:ext cx="2743200" cy="457200"/>
          </a:xfrm>
          <a:prstGeom prst="rect">
            <a:avLst/>
          </a:prstGeom>
          <a:solidFill>
            <a:srgbClr val="EAF3F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87752" y="1225296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3A5D"/>
                </a:solidFill>
              </a:rPr>
              <a:t>Groups / Data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257800" y="1097280"/>
            <a:ext cx="2743200" cy="457200"/>
          </a:xfrm>
          <a:prstGeom prst="rect">
            <a:avLst/>
          </a:prstGeom>
          <a:solidFill>
            <a:srgbClr val="EAF8F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30952" y="1225296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3A5D"/>
                </a:solidFill>
              </a:rPr>
              <a:t>Outcome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01000" y="1097280"/>
            <a:ext cx="2286000" cy="457200"/>
          </a:xfrm>
          <a:prstGeom prst="rect">
            <a:avLst/>
          </a:prstGeom>
          <a:solidFill>
            <a:srgbClr val="EAF3F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74152" y="1225296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3A5D"/>
                </a:solidFill>
              </a:rPr>
              <a:t>Test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155448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85216" y="1636776"/>
            <a:ext cx="1847088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D3D"/>
                </a:solidFill>
              </a:rPr>
              <a:t>If data are names only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2514600" y="1554480"/>
            <a:ext cx="27432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596896" y="1636776"/>
            <a:ext cx="2578608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D3D"/>
                </a:solidFill>
              </a:rPr>
              <a:t>Male/Female, Yes/No, Group A/B</a:t>
            </a:r>
            <a:endParaRPr lang="en-US" sz="1040" dirty="0"/>
          </a:p>
        </p:txBody>
      </p:sp>
      <p:sp>
        <p:nvSpPr>
          <p:cNvPr id="21" name="Shape 19"/>
          <p:cNvSpPr/>
          <p:nvPr/>
        </p:nvSpPr>
        <p:spPr>
          <a:xfrm>
            <a:off x="5257800" y="1554480"/>
            <a:ext cx="27432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40096" y="1636776"/>
            <a:ext cx="2578608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D3D"/>
                </a:solidFill>
              </a:rPr>
              <a:t>Nominal</a:t>
            </a:r>
            <a:endParaRPr lang="en-US" sz="1040" dirty="0"/>
          </a:p>
        </p:txBody>
      </p:sp>
      <p:sp>
        <p:nvSpPr>
          <p:cNvPr id="23" name="Shape 21"/>
          <p:cNvSpPr/>
          <p:nvPr/>
        </p:nvSpPr>
        <p:spPr>
          <a:xfrm>
            <a:off x="8001000" y="1554480"/>
            <a:ext cx="22860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083296" y="1636776"/>
            <a:ext cx="2121408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D3D"/>
                </a:solidFill>
              </a:rPr>
              <a:t>Frequencies, chi-square</a:t>
            </a:r>
            <a:endParaRPr lang="en-US" sz="1040" dirty="0"/>
          </a:p>
        </p:txBody>
      </p:sp>
      <p:sp>
        <p:nvSpPr>
          <p:cNvPr id="25" name="Shape 23"/>
          <p:cNvSpPr/>
          <p:nvPr/>
        </p:nvSpPr>
        <p:spPr>
          <a:xfrm>
            <a:off x="502920" y="237744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85216" y="2459736"/>
            <a:ext cx="1847088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D3D"/>
                </a:solidFill>
              </a:rPr>
              <a:t>If data have order</a:t>
            </a:r>
            <a:endParaRPr lang="en-US" sz="1040" dirty="0"/>
          </a:p>
        </p:txBody>
      </p:sp>
      <p:sp>
        <p:nvSpPr>
          <p:cNvPr id="27" name="Shape 25"/>
          <p:cNvSpPr/>
          <p:nvPr/>
        </p:nvSpPr>
        <p:spPr>
          <a:xfrm>
            <a:off x="2514600" y="2377440"/>
            <a:ext cx="27432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596896" y="2459736"/>
            <a:ext cx="2578608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D3D"/>
                </a:solidFill>
              </a:rPr>
              <a:t>Mild/Moderate/Severe</a:t>
            </a:r>
            <a:endParaRPr lang="en-US" sz="1040" dirty="0"/>
          </a:p>
        </p:txBody>
      </p:sp>
      <p:sp>
        <p:nvSpPr>
          <p:cNvPr id="29" name="Shape 27"/>
          <p:cNvSpPr/>
          <p:nvPr/>
        </p:nvSpPr>
        <p:spPr>
          <a:xfrm>
            <a:off x="5257800" y="2377440"/>
            <a:ext cx="27432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340096" y="2459736"/>
            <a:ext cx="2578608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D3D"/>
                </a:solidFill>
              </a:rPr>
              <a:t>Ordinal</a:t>
            </a:r>
            <a:endParaRPr lang="en-US" sz="1040" dirty="0"/>
          </a:p>
        </p:txBody>
      </p:sp>
      <p:sp>
        <p:nvSpPr>
          <p:cNvPr id="31" name="Shape 29"/>
          <p:cNvSpPr/>
          <p:nvPr/>
        </p:nvSpPr>
        <p:spPr>
          <a:xfrm>
            <a:off x="8001000" y="2377440"/>
            <a:ext cx="22860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083296" y="2459736"/>
            <a:ext cx="2121408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D3D"/>
                </a:solidFill>
              </a:rPr>
              <a:t>Median, percentages</a:t>
            </a:r>
            <a:endParaRPr lang="en-US" sz="1040" dirty="0"/>
          </a:p>
        </p:txBody>
      </p:sp>
      <p:sp>
        <p:nvSpPr>
          <p:cNvPr id="33" name="Shape 31"/>
          <p:cNvSpPr/>
          <p:nvPr/>
        </p:nvSpPr>
        <p:spPr>
          <a:xfrm>
            <a:off x="502920" y="320040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85216" y="3282696"/>
            <a:ext cx="1847088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D3D"/>
                </a:solidFill>
              </a:rPr>
              <a:t>If data are measured numbers</a:t>
            </a:r>
            <a:endParaRPr lang="en-US" sz="1040" dirty="0"/>
          </a:p>
        </p:txBody>
      </p:sp>
      <p:sp>
        <p:nvSpPr>
          <p:cNvPr id="35" name="Shape 33"/>
          <p:cNvSpPr/>
          <p:nvPr/>
        </p:nvSpPr>
        <p:spPr>
          <a:xfrm>
            <a:off x="2514600" y="3200400"/>
            <a:ext cx="27432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596896" y="3282696"/>
            <a:ext cx="2578608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D3D"/>
                </a:solidFill>
              </a:rPr>
              <a:t>Age, pain score, duration</a:t>
            </a:r>
            <a:endParaRPr lang="en-US" sz="1040" dirty="0"/>
          </a:p>
        </p:txBody>
      </p:sp>
      <p:sp>
        <p:nvSpPr>
          <p:cNvPr id="37" name="Shape 35"/>
          <p:cNvSpPr/>
          <p:nvPr/>
        </p:nvSpPr>
        <p:spPr>
          <a:xfrm>
            <a:off x="5257800" y="3200400"/>
            <a:ext cx="27432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340096" y="3282696"/>
            <a:ext cx="2578608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D3D"/>
                </a:solidFill>
              </a:rPr>
              <a:t>Scale</a:t>
            </a:r>
            <a:endParaRPr lang="en-US" sz="1040" dirty="0"/>
          </a:p>
        </p:txBody>
      </p:sp>
      <p:sp>
        <p:nvSpPr>
          <p:cNvPr id="39" name="Shape 37"/>
          <p:cNvSpPr/>
          <p:nvPr/>
        </p:nvSpPr>
        <p:spPr>
          <a:xfrm>
            <a:off x="8001000" y="3200400"/>
            <a:ext cx="22860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083296" y="3282696"/>
            <a:ext cx="2121408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D3D"/>
                </a:solidFill>
              </a:rPr>
              <a:t>Mean, SD, t-test, ANOVA</a:t>
            </a:r>
            <a:endParaRPr lang="en-US" sz="1040" dirty="0"/>
          </a:p>
        </p:txBody>
      </p:sp>
      <p:sp>
        <p:nvSpPr>
          <p:cNvPr id="41" name="Text 39"/>
          <p:cNvSpPr/>
          <p:nvPr/>
        </p:nvSpPr>
        <p:spPr>
          <a:xfrm>
            <a:off x="1097280" y="49377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3A5D"/>
                </a:solidFill>
              </a:rPr>
              <a:t>Simple memory: Name = Nominal | Order = Ordinal | Number = Scale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AF3FE"/>
          </a:solidFill>
          <a:ln w="12700">
            <a:solidFill>
              <a:srgbClr val="EAF3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373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SPSS SETUP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31089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Organizing data correctly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850392"/>
            <a:ext cx="1828800" cy="0"/>
          </a:xfrm>
          <a:prstGeom prst="line">
            <a:avLst/>
          </a:prstGeom>
          <a:noFill/>
          <a:ln w="31750">
            <a:solidFill>
              <a:srgbClr val="12A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96112" y="1307592"/>
            <a:ext cx="384048" cy="384048"/>
          </a:xfrm>
          <a:prstGeom prst="ellipse">
            <a:avLst/>
          </a:prstGeom>
          <a:solidFill>
            <a:srgbClr val="12A7A3">
              <a:alpha val="95000"/>
            </a:srgbClr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96112" y="13898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89888" y="1325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row = one participant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2688" y="1764792"/>
            <a:ext cx="3072384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participant should appear once in the main data sheet.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43400" y="114300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07992" y="1307592"/>
            <a:ext cx="384048" cy="384048"/>
          </a:xfrm>
          <a:prstGeom prst="ellipse">
            <a:avLst/>
          </a:prstGeom>
          <a:solidFill>
            <a:srgbClr val="2B78C2">
              <a:alpha val="95000"/>
            </a:srgbClr>
          </a:solidFill>
          <a:ln w="12700">
            <a:solidFill>
              <a:srgbClr val="2B78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07992" y="13898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01768" y="1325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column = one variable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44568" y="1764792"/>
            <a:ext cx="3072384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mix two variables in one column.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955280" y="114300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119872" y="1307592"/>
            <a:ext cx="384048" cy="384048"/>
          </a:xfrm>
          <a:prstGeom prst="ellipse">
            <a:avLst/>
          </a:prstGeom>
          <a:solidFill>
            <a:srgbClr val="7868C9">
              <a:alpha val="95000"/>
            </a:srgbClr>
          </a:solidFill>
          <a:ln w="12700">
            <a:solidFill>
              <a:srgbClr val="7868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119872" y="13898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13648" y="1325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simple codes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156448" y="1764792"/>
            <a:ext cx="3072384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1 = Yes, 0 = No. Keep a codebook.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331720" y="333756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496312" y="3502152"/>
            <a:ext cx="384048" cy="384048"/>
          </a:xfrm>
          <a:prstGeom prst="ellipse">
            <a:avLst/>
          </a:prstGeom>
          <a:solidFill>
            <a:srgbClr val="F3B041">
              <a:alpha val="95000"/>
            </a:srgbClr>
          </a:solidFill>
          <a:ln w="12700">
            <a:solidFill>
              <a:srgbClr val="F3B04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496312" y="358444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990088" y="3520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Avoid empty text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2532888" y="3959352"/>
            <a:ext cx="3072384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consistent coding for missing data.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09360" y="333756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473952" y="3502152"/>
            <a:ext cx="384048" cy="384048"/>
          </a:xfrm>
          <a:prstGeom prst="ellipse">
            <a:avLst/>
          </a:prstGeom>
          <a:solidFill>
            <a:srgbClr val="00A875">
              <a:alpha val="95000"/>
            </a:srgbClr>
          </a:solidFill>
          <a:ln w="12700">
            <a:solidFill>
              <a:srgbClr val="00A87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73952" y="358444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67728" y="3520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 before analysis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510528" y="3959352"/>
            <a:ext cx="3072384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frequencies and descriptives first.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flat_vector_illustration_style_infographi_batch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73714"/>
            <a:ext cx="5882335" cy="331057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26364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21792" y="1078992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12A7A3">
              <a:alpha val="92000"/>
            </a:srgbClr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1520" y="1152144"/>
            <a:ext cx="13350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DESCRIPTIVE STATISTICS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21792" y="20574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2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Describe the data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58368" y="3246120"/>
            <a:ext cx="5212080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637381"/>
                </a:solidFill>
              </a:rPr>
              <a:t>Start with simple summaries before doing statistical tests.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40080" y="63550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37381"/>
                </a:solidFill>
              </a:rPr>
              <a:t>Biostatistics &amp; SPSS Workshop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AF3FE"/>
          </a:solidFill>
          <a:ln w="12700">
            <a:solidFill>
              <a:srgbClr val="EAF3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373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DESCRIPTIVE STATISTICS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31089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Descriptive statistics: first look at the data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850392"/>
            <a:ext cx="1828800" cy="0"/>
          </a:xfrm>
          <a:prstGeom prst="line">
            <a:avLst/>
          </a:prstGeom>
          <a:noFill/>
          <a:ln w="31750">
            <a:solidFill>
              <a:srgbClr val="12A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22960" y="1344168"/>
            <a:ext cx="109728" cy="109728"/>
          </a:xfrm>
          <a:prstGeom prst="ellipse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60704" y="1234440"/>
            <a:ext cx="543153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Tells us what the data look like.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822960" y="2002536"/>
            <a:ext cx="109728" cy="109728"/>
          </a:xfrm>
          <a:prstGeom prst="ellipse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60704" y="1892808"/>
            <a:ext cx="543153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Finds the center of values: mean, median, mode.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2660904"/>
            <a:ext cx="109728" cy="109728"/>
          </a:xfrm>
          <a:prstGeom prst="ellipse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60704" y="2551176"/>
            <a:ext cx="543153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Finds spread: variance and standard deviation.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822960" y="3319272"/>
            <a:ext cx="109728" cy="109728"/>
          </a:xfrm>
          <a:prstGeom prst="ellipse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60704" y="3209544"/>
            <a:ext cx="543153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Identifies unusual values and skewness.</a:t>
            </a:r>
            <a:endParaRPr lang="en-US" sz="2100" dirty="0"/>
          </a:p>
        </p:txBody>
      </p:sp>
      <p:pic>
        <p:nvPicPr>
          <p:cNvPr id="16" name="Image 0" descr="/mnt/data/a_clean_flat_vector_illustration_style_infographi_batch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785186"/>
            <a:ext cx="5029200" cy="283042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AF3FE"/>
          </a:solidFill>
          <a:ln w="12700">
            <a:solidFill>
              <a:srgbClr val="EAF3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373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DESCRIPTIVE STATISTICS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31089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Mean, median and mode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850392"/>
            <a:ext cx="1828800" cy="0"/>
          </a:xfrm>
          <a:prstGeom prst="line">
            <a:avLst/>
          </a:prstGeom>
          <a:noFill/>
          <a:ln w="31750">
            <a:solidFill>
              <a:srgbClr val="12A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123444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EAF8F6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41832" y="1399032"/>
            <a:ext cx="384048" cy="384048"/>
          </a:xfrm>
          <a:prstGeom prst="ellipse">
            <a:avLst/>
          </a:prstGeom>
          <a:solidFill>
            <a:srgbClr val="12A7A3">
              <a:alpha val="95000"/>
            </a:srgbClr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41832" y="148132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35608" y="14173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78408" y="1856232"/>
            <a:ext cx="3026664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value.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average pain score after treatment.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89120" y="123444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EAF3FE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53712" y="1399032"/>
            <a:ext cx="384048" cy="384048"/>
          </a:xfrm>
          <a:prstGeom prst="ellipse">
            <a:avLst/>
          </a:prstGeom>
          <a:solidFill>
            <a:srgbClr val="2B78C2">
              <a:alpha val="95000"/>
            </a:srgbClr>
          </a:solidFill>
          <a:ln w="12700">
            <a:solidFill>
              <a:srgbClr val="2B78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53712" y="148132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47488" y="14173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Median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90288" y="1856232"/>
            <a:ext cx="3026664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Middle value after sorting.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when data are skewed.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01000" y="123444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2F0FF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165592" y="1399032"/>
            <a:ext cx="384048" cy="384048"/>
          </a:xfrm>
          <a:prstGeom prst="ellipse">
            <a:avLst/>
          </a:prstGeom>
          <a:solidFill>
            <a:srgbClr val="7868C9">
              <a:alpha val="95000"/>
            </a:srgbClr>
          </a:solidFill>
          <a:ln w="12700">
            <a:solidFill>
              <a:srgbClr val="7868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165592" y="148132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59368" y="14173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02168" y="1856232"/>
            <a:ext cx="3026664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repeated value.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for categories and common responses.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234440" y="4343400"/>
            <a:ext cx="9692640" cy="713232"/>
          </a:xfrm>
          <a:prstGeom prst="roundRect">
            <a:avLst>
              <a:gd name="adj" fmla="val 10256"/>
            </a:avLst>
          </a:prstGeom>
          <a:solidFill>
            <a:srgbClr val="EAF3FE"/>
          </a:solidFill>
          <a:ln w="12700">
            <a:solidFill>
              <a:srgbClr val="EAF3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371600" y="4553712"/>
            <a:ext cx="9418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3A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values: 2, 3, 3, 4, 8  →  mean = 4, median = 3, mode = 3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AF3FE"/>
          </a:solidFill>
          <a:ln w="12700">
            <a:solidFill>
              <a:srgbClr val="EAF3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373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DESCRIPTIVE STATISTICS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31089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Variance and standard deviation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850392"/>
            <a:ext cx="1828800" cy="0"/>
          </a:xfrm>
          <a:prstGeom prst="line">
            <a:avLst/>
          </a:prstGeom>
          <a:noFill/>
          <a:ln w="31750">
            <a:solidFill>
              <a:srgbClr val="12A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3749040" cy="1828800"/>
          </a:xfrm>
          <a:prstGeom prst="roundRect">
            <a:avLst>
              <a:gd name="adj" fmla="val 4000"/>
            </a:avLst>
          </a:prstGeom>
          <a:solidFill>
            <a:srgbClr val="EAF8F6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96112" y="1307592"/>
            <a:ext cx="384048" cy="384048"/>
          </a:xfrm>
          <a:prstGeom prst="ellipse">
            <a:avLst/>
          </a:prstGeom>
          <a:solidFill>
            <a:srgbClr val="12A7A3">
              <a:alpha val="95000"/>
            </a:srgbClr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96112" y="13898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89888" y="1325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Variance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2688" y="1764792"/>
            <a:ext cx="3346704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squared distance from the mean. It tells how scattered the values are.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617720" y="1143000"/>
            <a:ext cx="3749040" cy="1828800"/>
          </a:xfrm>
          <a:prstGeom prst="roundRect">
            <a:avLst>
              <a:gd name="adj" fmla="val 4000"/>
            </a:avLst>
          </a:prstGeom>
          <a:solidFill>
            <a:srgbClr val="EAF3FE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82312" y="1307592"/>
            <a:ext cx="384048" cy="384048"/>
          </a:xfrm>
          <a:prstGeom prst="ellipse">
            <a:avLst/>
          </a:prstGeom>
          <a:solidFill>
            <a:srgbClr val="2B78C2">
              <a:alpha val="95000"/>
            </a:srgbClr>
          </a:solidFill>
          <a:ln w="12700">
            <a:solidFill>
              <a:srgbClr val="2B78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82312" y="13898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76088" y="1325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Standard deviation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818888" y="1764792"/>
            <a:ext cx="3346704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spread around the mean in the original unit.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503920" y="1143000"/>
            <a:ext cx="2926080" cy="1828800"/>
          </a:xfrm>
          <a:prstGeom prst="roundRect">
            <a:avLst>
              <a:gd name="adj" fmla="val 4000"/>
            </a:avLst>
          </a:prstGeom>
          <a:solidFill>
            <a:srgbClr val="FFF7E6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668512" y="1307592"/>
            <a:ext cx="384048" cy="384048"/>
          </a:xfrm>
          <a:prstGeom prst="ellipse">
            <a:avLst/>
          </a:prstGeom>
          <a:solidFill>
            <a:srgbClr val="F3B041">
              <a:alpha val="95000"/>
            </a:srgbClr>
          </a:solidFill>
          <a:ln w="12700">
            <a:solidFill>
              <a:srgbClr val="F3B04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68512" y="13898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62288" y="1325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Easy meaning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705088" y="1764792"/>
            <a:ext cx="2523744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SD = values are close.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SD = values are spread out.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05840" y="434340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23A5D"/>
                </a:solidFill>
              </a:rPr>
              <a:t>Example: two groups may have the same mean, but different spread.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AF3FE"/>
          </a:solidFill>
          <a:ln w="12700">
            <a:solidFill>
              <a:srgbClr val="EAF3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373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DESCRIPTIVE STATISTICS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31089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Symmetric distribution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850392"/>
            <a:ext cx="1828800" cy="0"/>
          </a:xfrm>
          <a:prstGeom prst="line">
            <a:avLst/>
          </a:prstGeom>
          <a:noFill/>
          <a:ln w="31750">
            <a:solidFill>
              <a:srgbClr val="12A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mnt/data/a_clean_flat_vector_illustration_style_infographi_batch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407941"/>
            <a:ext cx="5394960" cy="303627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252728"/>
            <a:ext cx="109728" cy="109728"/>
          </a:xfrm>
          <a:prstGeom prst="ellipse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14984" y="1143000"/>
            <a:ext cx="479145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Values are balanced around the center.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777240" y="1837944"/>
            <a:ext cx="109728" cy="109728"/>
          </a:xfrm>
          <a:prstGeom prst="ellipse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14984" y="1728216"/>
            <a:ext cx="479145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Mean, median and mode are close to each other.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777240" y="2423160"/>
            <a:ext cx="109728" cy="109728"/>
          </a:xfrm>
          <a:prstGeom prst="ellipse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14984" y="2313432"/>
            <a:ext cx="479145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parametric tests work better when data are roughly symmetric.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777240" y="3008376"/>
            <a:ext cx="109728" cy="109728"/>
          </a:xfrm>
          <a:prstGeom prst="ellipse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14984" y="2898648"/>
            <a:ext cx="479145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 check histogram or normality before deciding.</a:t>
            </a:r>
            <a:endParaRPr lang="en-US" sz="1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AF3FE"/>
          </a:solidFill>
          <a:ln w="12700">
            <a:solidFill>
              <a:srgbClr val="EAF3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373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DESCRIPTIVE STATISTICS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31089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Skewness: when data are not balanced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850392"/>
            <a:ext cx="1828800" cy="0"/>
          </a:xfrm>
          <a:prstGeom prst="line">
            <a:avLst/>
          </a:prstGeom>
          <a:noFill/>
          <a:ln w="31750">
            <a:solidFill>
              <a:srgbClr val="12A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123444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EAF8F6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41832" y="1399032"/>
            <a:ext cx="384048" cy="384048"/>
          </a:xfrm>
          <a:prstGeom prst="ellipse">
            <a:avLst/>
          </a:prstGeom>
          <a:solidFill>
            <a:srgbClr val="12A7A3">
              <a:alpha val="95000"/>
            </a:srgbClr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41832" y="148132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+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35608" y="14173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Positive skew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78408" y="1856232"/>
            <a:ext cx="4718304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values are low, but a few values are very high.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long treatment time for a few complex cases.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55080" y="123444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EAF3FE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519672" y="1399032"/>
            <a:ext cx="384048" cy="384048"/>
          </a:xfrm>
          <a:prstGeom prst="ellipse">
            <a:avLst/>
          </a:prstGeom>
          <a:solidFill>
            <a:srgbClr val="2B78C2">
              <a:alpha val="95000"/>
            </a:srgbClr>
          </a:solidFill>
          <a:ln w="12700">
            <a:solidFill>
              <a:srgbClr val="2B78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19672" y="148132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013448" y="14173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Negative skew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56248" y="1856232"/>
            <a:ext cx="4718304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values are high, but a few values are very low.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high satisfaction with a few low scores.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480060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3A5D"/>
                </a:solidFill>
              </a:rPr>
              <a:t>For skewed data, median can be more meaningful than mean.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flat_vector_illustration_style_infograph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73714"/>
            <a:ext cx="5882335" cy="331057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26364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21792" y="1078992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12A7A3">
              <a:alpha val="92000"/>
            </a:srgbClr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1520" y="1152144"/>
            <a:ext cx="13350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21792" y="20574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3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Inference &amp; testing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58368" y="3246120"/>
            <a:ext cx="5212080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637381"/>
                </a:solidFill>
              </a:rPr>
              <a:t>Move from sample summaries to evidence-based conclusions.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40080" y="63550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37381"/>
                </a:solidFill>
              </a:rPr>
              <a:t>Biostatistics &amp; SPSS Workshop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AF3FE"/>
          </a:solidFill>
          <a:ln w="12700">
            <a:solidFill>
              <a:srgbClr val="EAF3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373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31089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Sampling: why we do not study everyone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850392"/>
            <a:ext cx="1828800" cy="0"/>
          </a:xfrm>
          <a:prstGeom prst="line">
            <a:avLst/>
          </a:prstGeom>
          <a:noFill/>
          <a:ln w="31750">
            <a:solidFill>
              <a:srgbClr val="12A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118872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96112" y="1353312"/>
            <a:ext cx="384048" cy="384048"/>
          </a:xfrm>
          <a:prstGeom prst="ellipse">
            <a:avLst/>
          </a:prstGeom>
          <a:solidFill>
            <a:srgbClr val="12A7A3">
              <a:alpha val="95000"/>
            </a:srgbClr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96112" y="143560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89888" y="13716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Population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2688" y="1810512"/>
            <a:ext cx="3026664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people we want to understand.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89120" y="118872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53712" y="1353312"/>
            <a:ext cx="384048" cy="384048"/>
          </a:xfrm>
          <a:prstGeom prst="ellipse">
            <a:avLst/>
          </a:prstGeom>
          <a:solidFill>
            <a:srgbClr val="2B78C2">
              <a:alpha val="95000"/>
            </a:srgbClr>
          </a:solidFill>
          <a:ln w="12700">
            <a:solidFill>
              <a:srgbClr val="2B78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53712" y="143560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47488" y="13716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Sample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90288" y="1810512"/>
            <a:ext cx="3026664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smaller group selected from the population.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46720" y="118872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211312" y="1353312"/>
            <a:ext cx="384048" cy="384048"/>
          </a:xfrm>
          <a:prstGeom prst="ellipse">
            <a:avLst/>
          </a:prstGeom>
          <a:solidFill>
            <a:srgbClr val="7868C9">
              <a:alpha val="95000"/>
            </a:srgbClr>
          </a:solidFill>
          <a:ln w="12700">
            <a:solidFill>
              <a:srgbClr val="7868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11312" y="143560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705088" y="13716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Inference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47888" y="1810512"/>
            <a:ext cx="3026664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sample results to make a statement about the population.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224528" y="1874520"/>
            <a:ext cx="128016" cy="128016"/>
          </a:xfrm>
          <a:prstGeom prst="chevron">
            <a:avLst/>
          </a:prstGeom>
          <a:solidFill>
            <a:srgbClr val="D7E3EF"/>
          </a:solidFill>
          <a:ln w="12700">
            <a:solidFill>
              <a:srgbClr val="D7E3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882128" y="1874520"/>
            <a:ext cx="128016" cy="128016"/>
          </a:xfrm>
          <a:prstGeom prst="chevron">
            <a:avLst/>
          </a:prstGeom>
          <a:solidFill>
            <a:srgbClr val="D7E3EF"/>
          </a:solidFill>
          <a:ln w="12700">
            <a:solidFill>
              <a:srgbClr val="D7E3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97280" y="484632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23A5D"/>
                </a:solidFill>
              </a:rPr>
              <a:t>Good sample = better confidence in your result.</a:t>
            </a:r>
            <a:endParaRPr lang="en-US" sz="2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AF3FE"/>
          </a:solidFill>
          <a:ln w="12700">
            <a:solidFill>
              <a:srgbClr val="EAF3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373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31089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Inference in simple words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850392"/>
            <a:ext cx="1828800" cy="0"/>
          </a:xfrm>
          <a:prstGeom prst="line">
            <a:avLst/>
          </a:prstGeom>
          <a:noFill/>
          <a:ln w="31750">
            <a:solidFill>
              <a:srgbClr val="12A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280160" y="1188720"/>
            <a:ext cx="658368" cy="658368"/>
          </a:xfrm>
          <a:prstGeom prst="ellipse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80160" y="133502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103120" y="12527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2D3D"/>
                </a:solidFill>
              </a:rPr>
              <a:t>Collect data from a sample.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280160" y="2148840"/>
            <a:ext cx="658368" cy="658368"/>
          </a:xfrm>
          <a:prstGeom prst="ellipse">
            <a:avLst/>
          </a:prstGeom>
          <a:solidFill>
            <a:srgbClr val="2B78C2"/>
          </a:solidFill>
          <a:ln w="12700">
            <a:solidFill>
              <a:srgbClr val="2B78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80160" y="229514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103120" y="221284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2D3D"/>
                </a:solidFill>
              </a:rPr>
              <a:t>Calculate a statistic: mean, percentage or difference.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280160" y="3108960"/>
            <a:ext cx="658368" cy="658368"/>
          </a:xfrm>
          <a:prstGeom prst="ellipse">
            <a:avLst/>
          </a:prstGeom>
          <a:solidFill>
            <a:srgbClr val="7868C9"/>
          </a:solidFill>
          <a:ln w="12700">
            <a:solidFill>
              <a:srgbClr val="7868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80160" y="325526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103120" y="31729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2D3D"/>
                </a:solidFill>
              </a:rPr>
              <a:t>Estimate what may be true in the larger group.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280160" y="4069080"/>
            <a:ext cx="658368" cy="658368"/>
          </a:xfrm>
          <a:prstGeom prst="ellipse">
            <a:avLst/>
          </a:prstGeom>
          <a:solidFill>
            <a:srgbClr val="F3B041"/>
          </a:solidFill>
          <a:ln w="12700">
            <a:solidFill>
              <a:srgbClr val="F3B04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80160" y="421538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103120" y="41330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2D3D"/>
                </a:solidFill>
              </a:rPr>
              <a:t>Use a test to judge if the finding is likely real or due to chance.</a:t>
            </a:r>
            <a:endParaRPr lang="en-US" sz="1700" dirty="0"/>
          </a:p>
        </p:txBody>
      </p:sp>
      <p:pic>
        <p:nvPicPr>
          <p:cNvPr id="20" name="Image 0" descr="/mnt/data/a_clean_flat_vector_illustration_style_infograph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093960"/>
            <a:ext cx="3931920" cy="221288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AF3FE"/>
          </a:solidFill>
          <a:ln w="12700">
            <a:solidFill>
              <a:srgbClr val="EAF3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373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31089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Hypothesis testing: easy steps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850392"/>
            <a:ext cx="1828800" cy="0"/>
          </a:xfrm>
          <a:prstGeom prst="line">
            <a:avLst/>
          </a:prstGeom>
          <a:noFill/>
          <a:ln w="31750">
            <a:solidFill>
              <a:srgbClr val="12A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96112" y="1673352"/>
            <a:ext cx="384048" cy="384048"/>
          </a:xfrm>
          <a:prstGeom prst="ellipse">
            <a:avLst/>
          </a:prstGeom>
          <a:solidFill>
            <a:srgbClr val="12A7A3">
              <a:alpha val="95000"/>
            </a:srgbClr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96112" y="175564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89888" y="16916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State the question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2688" y="2130552"/>
            <a:ext cx="1563624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data to decide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61488" y="2075688"/>
            <a:ext cx="164592" cy="164592"/>
          </a:xfrm>
          <a:prstGeom prst="chevron">
            <a:avLst/>
          </a:prstGeom>
          <a:solidFill>
            <a:srgbClr val="D7E3EF"/>
          </a:solidFill>
          <a:ln w="12700">
            <a:solidFill>
              <a:srgbClr val="D7E3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035808" y="150876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0" y="1673352"/>
            <a:ext cx="384048" cy="384048"/>
          </a:xfrm>
          <a:prstGeom prst="ellipse">
            <a:avLst/>
          </a:prstGeom>
          <a:solidFill>
            <a:srgbClr val="2B78C2">
              <a:alpha val="95000"/>
            </a:srgbClr>
          </a:solidFill>
          <a:ln w="12700">
            <a:solidFill>
              <a:srgbClr val="2B78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0" y="175564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94176" y="16916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Write H₀ and H₁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236976" y="2130552"/>
            <a:ext cx="1563624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H₀ = no difference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H₁ = difference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65776" y="2075688"/>
            <a:ext cx="164592" cy="164592"/>
          </a:xfrm>
          <a:prstGeom prst="chevron">
            <a:avLst/>
          </a:prstGeom>
          <a:solidFill>
            <a:srgbClr val="D7E3EF"/>
          </a:solidFill>
          <a:ln w="12700">
            <a:solidFill>
              <a:srgbClr val="D7E3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340096" y="150876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504688" y="1673352"/>
            <a:ext cx="384048" cy="384048"/>
          </a:xfrm>
          <a:prstGeom prst="ellipse">
            <a:avLst/>
          </a:prstGeom>
          <a:solidFill>
            <a:srgbClr val="12A7A3">
              <a:alpha val="95000"/>
            </a:srgbClr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504688" y="175564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98464" y="16916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Choose correct test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541264" y="2130552"/>
            <a:ext cx="1563624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data to decide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70064" y="2075688"/>
            <a:ext cx="164592" cy="164592"/>
          </a:xfrm>
          <a:prstGeom prst="chevron">
            <a:avLst/>
          </a:prstGeom>
          <a:solidFill>
            <a:srgbClr val="D7E3EF"/>
          </a:solidFill>
          <a:ln w="12700">
            <a:solidFill>
              <a:srgbClr val="D7E3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644384" y="150876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808976" y="1673352"/>
            <a:ext cx="384048" cy="384048"/>
          </a:xfrm>
          <a:prstGeom prst="ellipse">
            <a:avLst/>
          </a:prstGeom>
          <a:solidFill>
            <a:srgbClr val="2B78C2">
              <a:alpha val="95000"/>
            </a:srgbClr>
          </a:solidFill>
          <a:ln w="12700">
            <a:solidFill>
              <a:srgbClr val="2B78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808976" y="175564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302752" y="16916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 p-value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845552" y="2130552"/>
            <a:ext cx="1563624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data to decide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674352" y="2075688"/>
            <a:ext cx="164592" cy="164592"/>
          </a:xfrm>
          <a:prstGeom prst="chevron">
            <a:avLst/>
          </a:prstGeom>
          <a:solidFill>
            <a:srgbClr val="D7E3EF"/>
          </a:solidFill>
          <a:ln w="12700">
            <a:solidFill>
              <a:srgbClr val="D7E3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948672" y="150876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0113264" y="1673352"/>
            <a:ext cx="384048" cy="384048"/>
          </a:xfrm>
          <a:prstGeom prst="ellipse">
            <a:avLst/>
          </a:prstGeom>
          <a:solidFill>
            <a:srgbClr val="12A7A3">
              <a:alpha val="95000"/>
            </a:srgbClr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113264" y="175564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607040" y="16916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Make conclusion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10149840" y="2130552"/>
            <a:ext cx="1563624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data to decide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88720" y="4983480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3A5D"/>
                </a:solidFill>
              </a:rPr>
              <a:t>Hypothesis testing does not prove; it gives evidence.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AF3FE"/>
          </a:solidFill>
          <a:ln w="12700">
            <a:solidFill>
              <a:srgbClr val="EAF3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373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31089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P-value and significance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850392"/>
            <a:ext cx="1828800" cy="0"/>
          </a:xfrm>
          <a:prstGeom prst="line">
            <a:avLst/>
          </a:prstGeom>
          <a:noFill/>
          <a:ln w="31750">
            <a:solidFill>
              <a:srgbClr val="12A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114300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EAF8F6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41832" y="1307592"/>
            <a:ext cx="384048" cy="384048"/>
          </a:xfrm>
          <a:prstGeom prst="ellipse">
            <a:avLst/>
          </a:prstGeom>
          <a:solidFill>
            <a:srgbClr val="12A7A3">
              <a:alpha val="95000"/>
            </a:srgbClr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41832" y="13898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35608" y="1325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P-value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78408" y="1764792"/>
            <a:ext cx="4672584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Probability of getting a result like this if the null hypothesis is true.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55080" y="114300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EAF3FE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519672" y="1307592"/>
            <a:ext cx="384048" cy="384048"/>
          </a:xfrm>
          <a:prstGeom prst="ellipse">
            <a:avLst/>
          </a:prstGeom>
          <a:solidFill>
            <a:srgbClr val="2B78C2">
              <a:alpha val="95000"/>
            </a:srgbClr>
          </a:solidFill>
          <a:ln w="12700">
            <a:solidFill>
              <a:srgbClr val="2B78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19672" y="13898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&lt;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013448" y="1325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rule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56248" y="1764792"/>
            <a:ext cx="4672584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p &lt; 0.05, the result is called statistically significant.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47548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15A5A"/>
                </a:solidFill>
              </a:rPr>
              <a:t>Important: statistical significance is not always clinical importance.</a:t>
            </a:r>
            <a:endParaRPr lang="en-US" sz="2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AF3FE"/>
          </a:solidFill>
          <a:ln w="12700">
            <a:solidFill>
              <a:srgbClr val="EAF3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373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STATISTICAL TESTS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31089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Which test should I use?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850392"/>
            <a:ext cx="1828800" cy="0"/>
          </a:xfrm>
          <a:prstGeom prst="line">
            <a:avLst/>
          </a:prstGeom>
          <a:noFill/>
          <a:ln w="31750">
            <a:solidFill>
              <a:srgbClr val="12A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051560"/>
            <a:ext cx="11430000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051560"/>
            <a:ext cx="2011680" cy="457200"/>
          </a:xfrm>
          <a:prstGeom prst="rect">
            <a:avLst/>
          </a:prstGeom>
          <a:solidFill>
            <a:srgbClr val="EAF8F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" y="1179576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3A5D"/>
                </a:solidFill>
              </a:rPr>
              <a:t>Question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23160" y="1051560"/>
            <a:ext cx="2743200" cy="457200"/>
          </a:xfrm>
          <a:prstGeom prst="rect">
            <a:avLst/>
          </a:prstGeom>
          <a:solidFill>
            <a:srgbClr val="EAF3F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96312" y="1179576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3A5D"/>
                </a:solidFill>
              </a:rPr>
              <a:t>Groups / Data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166360" y="1051560"/>
            <a:ext cx="2743200" cy="457200"/>
          </a:xfrm>
          <a:prstGeom prst="rect">
            <a:avLst/>
          </a:prstGeom>
          <a:solidFill>
            <a:srgbClr val="EAF8F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239512" y="1179576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3A5D"/>
                </a:solidFill>
              </a:rPr>
              <a:t>Outcome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909560" y="1051560"/>
            <a:ext cx="2286000" cy="457200"/>
          </a:xfrm>
          <a:prstGeom prst="rect">
            <a:avLst/>
          </a:prstGeom>
          <a:solidFill>
            <a:srgbClr val="EAF3F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982712" y="1179576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3A5D"/>
                </a:solidFill>
              </a:rPr>
              <a:t>Test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1508760"/>
            <a:ext cx="2011680" cy="769620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" y="1591056"/>
            <a:ext cx="1847088" cy="6233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D3D"/>
                </a:solidFill>
              </a:rPr>
              <a:t>One mean vs fixed value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2423160" y="1508760"/>
            <a:ext cx="2743200" cy="769620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505456" y="1591056"/>
            <a:ext cx="2578608" cy="6233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D3D"/>
                </a:solidFill>
              </a:rPr>
              <a:t>1 group</a:t>
            </a:r>
            <a:endParaRPr lang="en-US" sz="1040" dirty="0"/>
          </a:p>
        </p:txBody>
      </p:sp>
      <p:sp>
        <p:nvSpPr>
          <p:cNvPr id="21" name="Shape 19"/>
          <p:cNvSpPr/>
          <p:nvPr/>
        </p:nvSpPr>
        <p:spPr>
          <a:xfrm>
            <a:off x="5166360" y="1508760"/>
            <a:ext cx="2743200" cy="769620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248656" y="1591056"/>
            <a:ext cx="2578608" cy="6233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D3D"/>
                </a:solidFill>
              </a:rPr>
              <a:t>Scale</a:t>
            </a:r>
            <a:endParaRPr lang="en-US" sz="1040" dirty="0"/>
          </a:p>
        </p:txBody>
      </p:sp>
      <p:sp>
        <p:nvSpPr>
          <p:cNvPr id="23" name="Shape 21"/>
          <p:cNvSpPr/>
          <p:nvPr/>
        </p:nvSpPr>
        <p:spPr>
          <a:xfrm>
            <a:off x="7909560" y="1508760"/>
            <a:ext cx="2286000" cy="769620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991856" y="1591056"/>
            <a:ext cx="2121408" cy="6233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D3D"/>
                </a:solidFill>
              </a:rPr>
              <a:t>One-sample t-test</a:t>
            </a:r>
            <a:endParaRPr lang="en-US" sz="1040" dirty="0"/>
          </a:p>
        </p:txBody>
      </p:sp>
      <p:sp>
        <p:nvSpPr>
          <p:cNvPr id="25" name="Shape 23"/>
          <p:cNvSpPr/>
          <p:nvPr/>
        </p:nvSpPr>
        <p:spPr>
          <a:xfrm>
            <a:off x="411480" y="2278380"/>
            <a:ext cx="2011680" cy="769620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3776" y="2360676"/>
            <a:ext cx="1847088" cy="6233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D3D"/>
                </a:solidFill>
              </a:rPr>
              <a:t>Two separate groups</a:t>
            </a:r>
            <a:endParaRPr lang="en-US" sz="1040" dirty="0"/>
          </a:p>
        </p:txBody>
      </p:sp>
      <p:sp>
        <p:nvSpPr>
          <p:cNvPr id="27" name="Shape 25"/>
          <p:cNvSpPr/>
          <p:nvPr/>
        </p:nvSpPr>
        <p:spPr>
          <a:xfrm>
            <a:off x="2423160" y="2278380"/>
            <a:ext cx="2743200" cy="769620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505456" y="2360676"/>
            <a:ext cx="2578608" cy="6233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D3D"/>
                </a:solidFill>
              </a:rPr>
              <a:t>2 independent groups</a:t>
            </a:r>
            <a:endParaRPr lang="en-US" sz="1040" dirty="0"/>
          </a:p>
        </p:txBody>
      </p:sp>
      <p:sp>
        <p:nvSpPr>
          <p:cNvPr id="29" name="Shape 27"/>
          <p:cNvSpPr/>
          <p:nvPr/>
        </p:nvSpPr>
        <p:spPr>
          <a:xfrm>
            <a:off x="5166360" y="2278380"/>
            <a:ext cx="2743200" cy="769620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248656" y="2360676"/>
            <a:ext cx="2578608" cy="6233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D3D"/>
                </a:solidFill>
              </a:rPr>
              <a:t>Scale</a:t>
            </a:r>
            <a:endParaRPr lang="en-US" sz="1040" dirty="0"/>
          </a:p>
        </p:txBody>
      </p:sp>
      <p:sp>
        <p:nvSpPr>
          <p:cNvPr id="31" name="Shape 29"/>
          <p:cNvSpPr/>
          <p:nvPr/>
        </p:nvSpPr>
        <p:spPr>
          <a:xfrm>
            <a:off x="7909560" y="2278380"/>
            <a:ext cx="2286000" cy="769620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991856" y="2360676"/>
            <a:ext cx="2121408" cy="6233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D3D"/>
                </a:solidFill>
              </a:rPr>
              <a:t>Independent t-test</a:t>
            </a:r>
            <a:endParaRPr lang="en-US" sz="1040" dirty="0"/>
          </a:p>
        </p:txBody>
      </p:sp>
      <p:sp>
        <p:nvSpPr>
          <p:cNvPr id="33" name="Shape 31"/>
          <p:cNvSpPr/>
          <p:nvPr/>
        </p:nvSpPr>
        <p:spPr>
          <a:xfrm>
            <a:off x="411480" y="3048000"/>
            <a:ext cx="2011680" cy="769620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3776" y="3130296"/>
            <a:ext cx="1847088" cy="6233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D3D"/>
                </a:solidFill>
              </a:rPr>
              <a:t>Same participants before/after</a:t>
            </a:r>
            <a:endParaRPr lang="en-US" sz="1040" dirty="0"/>
          </a:p>
        </p:txBody>
      </p:sp>
      <p:sp>
        <p:nvSpPr>
          <p:cNvPr id="35" name="Shape 33"/>
          <p:cNvSpPr/>
          <p:nvPr/>
        </p:nvSpPr>
        <p:spPr>
          <a:xfrm>
            <a:off x="2423160" y="3048000"/>
            <a:ext cx="2743200" cy="769620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505456" y="3130296"/>
            <a:ext cx="2578608" cy="6233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D3D"/>
                </a:solidFill>
              </a:rPr>
              <a:t>2 related readings</a:t>
            </a:r>
            <a:endParaRPr lang="en-US" sz="1040" dirty="0"/>
          </a:p>
        </p:txBody>
      </p:sp>
      <p:sp>
        <p:nvSpPr>
          <p:cNvPr id="37" name="Shape 35"/>
          <p:cNvSpPr/>
          <p:nvPr/>
        </p:nvSpPr>
        <p:spPr>
          <a:xfrm>
            <a:off x="5166360" y="3048000"/>
            <a:ext cx="2743200" cy="769620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248656" y="3130296"/>
            <a:ext cx="2578608" cy="6233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D3D"/>
                </a:solidFill>
              </a:rPr>
              <a:t>Scale</a:t>
            </a:r>
            <a:endParaRPr lang="en-US" sz="1040" dirty="0"/>
          </a:p>
        </p:txBody>
      </p:sp>
      <p:sp>
        <p:nvSpPr>
          <p:cNvPr id="39" name="Shape 37"/>
          <p:cNvSpPr/>
          <p:nvPr/>
        </p:nvSpPr>
        <p:spPr>
          <a:xfrm>
            <a:off x="7909560" y="3048000"/>
            <a:ext cx="2286000" cy="769620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991856" y="3130296"/>
            <a:ext cx="2121408" cy="6233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D3D"/>
                </a:solidFill>
              </a:rPr>
              <a:t>Paired t-test</a:t>
            </a:r>
            <a:endParaRPr lang="en-US" sz="1040" dirty="0"/>
          </a:p>
        </p:txBody>
      </p:sp>
      <p:sp>
        <p:nvSpPr>
          <p:cNvPr id="41" name="Shape 39"/>
          <p:cNvSpPr/>
          <p:nvPr/>
        </p:nvSpPr>
        <p:spPr>
          <a:xfrm>
            <a:off x="411480" y="3817620"/>
            <a:ext cx="2011680" cy="769620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93776" y="3899916"/>
            <a:ext cx="1847088" cy="6233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D3D"/>
                </a:solidFill>
              </a:rPr>
              <a:t>Three or more groups</a:t>
            </a:r>
            <a:endParaRPr lang="en-US" sz="1040" dirty="0"/>
          </a:p>
        </p:txBody>
      </p:sp>
      <p:sp>
        <p:nvSpPr>
          <p:cNvPr id="43" name="Shape 41"/>
          <p:cNvSpPr/>
          <p:nvPr/>
        </p:nvSpPr>
        <p:spPr>
          <a:xfrm>
            <a:off x="2423160" y="3817620"/>
            <a:ext cx="2743200" cy="769620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505456" y="3899916"/>
            <a:ext cx="2578608" cy="6233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D3D"/>
                </a:solidFill>
              </a:rPr>
              <a:t>3+ independent groups</a:t>
            </a:r>
            <a:endParaRPr lang="en-US" sz="1040" dirty="0"/>
          </a:p>
        </p:txBody>
      </p:sp>
      <p:sp>
        <p:nvSpPr>
          <p:cNvPr id="45" name="Shape 43"/>
          <p:cNvSpPr/>
          <p:nvPr/>
        </p:nvSpPr>
        <p:spPr>
          <a:xfrm>
            <a:off x="5166360" y="3817620"/>
            <a:ext cx="2743200" cy="769620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248656" y="3899916"/>
            <a:ext cx="2578608" cy="6233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D3D"/>
                </a:solidFill>
              </a:rPr>
              <a:t>Scale</a:t>
            </a:r>
            <a:endParaRPr lang="en-US" sz="1040" dirty="0"/>
          </a:p>
        </p:txBody>
      </p:sp>
      <p:sp>
        <p:nvSpPr>
          <p:cNvPr id="47" name="Shape 45"/>
          <p:cNvSpPr/>
          <p:nvPr/>
        </p:nvSpPr>
        <p:spPr>
          <a:xfrm>
            <a:off x="7909560" y="3817620"/>
            <a:ext cx="2286000" cy="769620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991856" y="3899916"/>
            <a:ext cx="2121408" cy="6233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D3D"/>
                </a:solidFill>
              </a:rPr>
              <a:t>ANOVA</a:t>
            </a:r>
            <a:endParaRPr lang="en-US" sz="1040" dirty="0"/>
          </a:p>
        </p:txBody>
      </p:sp>
      <p:sp>
        <p:nvSpPr>
          <p:cNvPr id="49" name="Shape 47"/>
          <p:cNvSpPr/>
          <p:nvPr/>
        </p:nvSpPr>
        <p:spPr>
          <a:xfrm>
            <a:off x="411480" y="4587240"/>
            <a:ext cx="2011680" cy="769620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93776" y="4669536"/>
            <a:ext cx="1847088" cy="6233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D3D"/>
                </a:solidFill>
              </a:rPr>
              <a:t>Association of categories</a:t>
            </a:r>
            <a:endParaRPr lang="en-US" sz="1040" dirty="0"/>
          </a:p>
        </p:txBody>
      </p:sp>
      <p:sp>
        <p:nvSpPr>
          <p:cNvPr id="51" name="Shape 49"/>
          <p:cNvSpPr/>
          <p:nvPr/>
        </p:nvSpPr>
        <p:spPr>
          <a:xfrm>
            <a:off x="2423160" y="4587240"/>
            <a:ext cx="2743200" cy="769620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2505456" y="4669536"/>
            <a:ext cx="2578608" cy="6233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D3D"/>
                </a:solidFill>
              </a:rPr>
              <a:t>Two categorical variables</a:t>
            </a:r>
            <a:endParaRPr lang="en-US" sz="1040" dirty="0"/>
          </a:p>
        </p:txBody>
      </p:sp>
      <p:sp>
        <p:nvSpPr>
          <p:cNvPr id="53" name="Shape 51"/>
          <p:cNvSpPr/>
          <p:nvPr/>
        </p:nvSpPr>
        <p:spPr>
          <a:xfrm>
            <a:off x="5166360" y="4587240"/>
            <a:ext cx="2743200" cy="769620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248656" y="4669536"/>
            <a:ext cx="2578608" cy="6233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D3D"/>
                </a:solidFill>
              </a:rPr>
              <a:t>Nominal/Ordinal</a:t>
            </a:r>
            <a:endParaRPr lang="en-US" sz="1040" dirty="0"/>
          </a:p>
        </p:txBody>
      </p:sp>
      <p:sp>
        <p:nvSpPr>
          <p:cNvPr id="55" name="Shape 53"/>
          <p:cNvSpPr/>
          <p:nvPr/>
        </p:nvSpPr>
        <p:spPr>
          <a:xfrm>
            <a:off x="7909560" y="4587240"/>
            <a:ext cx="2286000" cy="769620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991856" y="4669536"/>
            <a:ext cx="2121408" cy="6233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D3D"/>
                </a:solidFill>
              </a:rPr>
              <a:t>Chi-square</a:t>
            </a:r>
            <a:endParaRPr lang="en-US" sz="1040" dirty="0"/>
          </a:p>
        </p:txBody>
      </p:sp>
      <p:sp>
        <p:nvSpPr>
          <p:cNvPr id="57" name="Shape 55"/>
          <p:cNvSpPr/>
          <p:nvPr/>
        </p:nvSpPr>
        <p:spPr>
          <a:xfrm>
            <a:off x="411480" y="5356860"/>
            <a:ext cx="2011680" cy="769620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93776" y="5439156"/>
            <a:ext cx="1847088" cy="6233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D3D"/>
                </a:solidFill>
              </a:rPr>
              <a:t>Prediction/relationship</a:t>
            </a:r>
            <a:endParaRPr lang="en-US" sz="1040" dirty="0"/>
          </a:p>
        </p:txBody>
      </p:sp>
      <p:sp>
        <p:nvSpPr>
          <p:cNvPr id="59" name="Shape 57"/>
          <p:cNvSpPr/>
          <p:nvPr/>
        </p:nvSpPr>
        <p:spPr>
          <a:xfrm>
            <a:off x="2423160" y="5356860"/>
            <a:ext cx="2743200" cy="769620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2505456" y="5439156"/>
            <a:ext cx="2578608" cy="6233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D3D"/>
                </a:solidFill>
              </a:rPr>
              <a:t>Outcome + predictor</a:t>
            </a:r>
            <a:endParaRPr lang="en-US" sz="1040" dirty="0"/>
          </a:p>
        </p:txBody>
      </p:sp>
      <p:sp>
        <p:nvSpPr>
          <p:cNvPr id="61" name="Shape 59"/>
          <p:cNvSpPr/>
          <p:nvPr/>
        </p:nvSpPr>
        <p:spPr>
          <a:xfrm>
            <a:off x="5166360" y="5356860"/>
            <a:ext cx="2743200" cy="769620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248656" y="5439156"/>
            <a:ext cx="2578608" cy="6233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D3D"/>
                </a:solidFill>
              </a:rPr>
              <a:t>Mostly scale</a:t>
            </a:r>
            <a:endParaRPr lang="en-US" sz="1040" dirty="0"/>
          </a:p>
        </p:txBody>
      </p:sp>
      <p:sp>
        <p:nvSpPr>
          <p:cNvPr id="63" name="Shape 61"/>
          <p:cNvSpPr/>
          <p:nvPr/>
        </p:nvSpPr>
        <p:spPr>
          <a:xfrm>
            <a:off x="7909560" y="5356860"/>
            <a:ext cx="2286000" cy="769620"/>
          </a:xfrm>
          <a:prstGeom prst="rect">
            <a:avLst/>
          </a:prstGeom>
          <a:solidFill>
            <a:srgbClr val="FFFFFF"/>
          </a:solidFill>
          <a:ln w="635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7991856" y="5439156"/>
            <a:ext cx="2121408" cy="6233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D3D"/>
                </a:solidFill>
              </a:rPr>
              <a:t>Regression</a:t>
            </a:r>
            <a:endParaRPr lang="en-US" sz="104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flat_vector_infographic_on_a_white_backgr_batch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73714"/>
            <a:ext cx="5882335" cy="331057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26364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21792" y="1078992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12A7A3">
              <a:alpha val="92000"/>
            </a:srgbClr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1520" y="1152144"/>
            <a:ext cx="13350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STATISTICAL TESTS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21792" y="20574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4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tests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58368" y="3246120"/>
            <a:ext cx="5212080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637381"/>
                </a:solidFill>
              </a:rPr>
              <a:t>Learn the question, data type, menu route and simple interpretation.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40080" y="63550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37381"/>
                </a:solidFill>
              </a:rPr>
              <a:t>Biostatistics &amp; SPSS Workshop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AF3FE"/>
          </a:solidFill>
          <a:ln w="12700">
            <a:solidFill>
              <a:srgbClr val="EAF3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373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STATISTICAL TESTS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31089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One-sample t-test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850392"/>
            <a:ext cx="1828800" cy="0"/>
          </a:xfrm>
          <a:prstGeom prst="line">
            <a:avLst/>
          </a:prstGeom>
          <a:noFill/>
          <a:ln w="31750">
            <a:solidFill>
              <a:srgbClr val="12A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96112" y="1307592"/>
            <a:ext cx="384048" cy="384048"/>
          </a:xfrm>
          <a:prstGeom prst="ellipse">
            <a:avLst/>
          </a:prstGeom>
          <a:solidFill>
            <a:srgbClr val="12A7A3">
              <a:alpha val="95000"/>
            </a:srgbClr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96112" y="13898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89888" y="13258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2688" y="1764792"/>
            <a:ext cx="2935224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one sample mean different from a known value?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43400" y="114300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07992" y="1307592"/>
            <a:ext cx="384048" cy="384048"/>
          </a:xfrm>
          <a:prstGeom prst="ellipse">
            <a:avLst/>
          </a:prstGeom>
          <a:solidFill>
            <a:srgbClr val="2B78C2">
              <a:alpha val="95000"/>
            </a:srgbClr>
          </a:solidFill>
          <a:ln w="12700">
            <a:solidFill>
              <a:srgbClr val="2B78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07992" y="13898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Ex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01768" y="13258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44568" y="1764792"/>
            <a:ext cx="2935224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average pain score different from 5?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955280" y="114300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119872" y="1307592"/>
            <a:ext cx="384048" cy="384048"/>
          </a:xfrm>
          <a:prstGeom prst="ellipse">
            <a:avLst/>
          </a:prstGeom>
          <a:solidFill>
            <a:srgbClr val="7868C9">
              <a:alpha val="95000"/>
            </a:srgbClr>
          </a:solidFill>
          <a:ln w="12700">
            <a:solidFill>
              <a:srgbClr val="7868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119872" y="13898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13648" y="13258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SPSS menu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156448" y="1764792"/>
            <a:ext cx="2935224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 → Compare Means → One-Sample T Test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16052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3A5D"/>
                </a:solidFill>
              </a:rPr>
              <a:t>Data needed: one scale outcome variable.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AF3FE"/>
          </a:solidFill>
          <a:ln w="12700">
            <a:solidFill>
              <a:srgbClr val="EAF3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373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STATISTICAL TESTS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31089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Independent-samples t-test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850392"/>
            <a:ext cx="1828800" cy="0"/>
          </a:xfrm>
          <a:prstGeom prst="line">
            <a:avLst/>
          </a:prstGeom>
          <a:noFill/>
          <a:ln w="31750">
            <a:solidFill>
              <a:srgbClr val="12A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1097280"/>
            <a:ext cx="4983480" cy="1828800"/>
          </a:xfrm>
          <a:prstGeom prst="roundRect">
            <a:avLst>
              <a:gd name="adj" fmla="val 4000"/>
            </a:avLst>
          </a:prstGeom>
          <a:solidFill>
            <a:srgbClr val="EAF8F6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0392" y="1261872"/>
            <a:ext cx="384048" cy="384048"/>
          </a:xfrm>
          <a:prstGeom prst="ellipse">
            <a:avLst/>
          </a:prstGeom>
          <a:solidFill>
            <a:srgbClr val="12A7A3">
              <a:alpha val="95000"/>
            </a:srgbClr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50392" y="134416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44168" y="12801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86968" y="1719072"/>
            <a:ext cx="4581144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two separate groups have different mean outcome values?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89320" y="109728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EAF3FE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53912" y="1261872"/>
            <a:ext cx="384048" cy="384048"/>
          </a:xfrm>
          <a:prstGeom prst="ellipse">
            <a:avLst/>
          </a:prstGeom>
          <a:solidFill>
            <a:srgbClr val="2B78C2">
              <a:alpha val="95000"/>
            </a:srgbClr>
          </a:solidFill>
          <a:ln w="12700">
            <a:solidFill>
              <a:srgbClr val="2B78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53912" y="134416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Ex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47688" y="128016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190488" y="1719072"/>
            <a:ext cx="5038344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mean plaque score between two treatment groups.</a:t>
            </a:r>
            <a:endParaRPr lang="en-US" sz="1500" dirty="0"/>
          </a:p>
        </p:txBody>
      </p:sp>
      <p:pic>
        <p:nvPicPr>
          <p:cNvPr id="18" name="Image 0" descr="/mnt/data/a_clean_flat_vector_infographic_on_a_white_backgr_batch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067" y="3383280"/>
            <a:ext cx="3411946" cy="19202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88720" y="58978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37381"/>
                </a:solidFill>
              </a:rPr>
              <a:t>SPSS: Analyze → Compare Means → Independent-Samples T Test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AF3FE"/>
          </a:solidFill>
          <a:ln w="12700">
            <a:solidFill>
              <a:srgbClr val="EAF3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373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STATISTICAL TESTS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31089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Paired-samples t-test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850392"/>
            <a:ext cx="1828800" cy="0"/>
          </a:xfrm>
          <a:prstGeom prst="line">
            <a:avLst/>
          </a:prstGeom>
          <a:noFill/>
          <a:ln w="31750">
            <a:solidFill>
              <a:srgbClr val="12A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1097280"/>
            <a:ext cx="4983480" cy="1828800"/>
          </a:xfrm>
          <a:prstGeom prst="roundRect">
            <a:avLst>
              <a:gd name="adj" fmla="val 4000"/>
            </a:avLst>
          </a:prstGeom>
          <a:solidFill>
            <a:srgbClr val="EAF8F6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96112" y="1261872"/>
            <a:ext cx="384048" cy="384048"/>
          </a:xfrm>
          <a:prstGeom prst="ellipse">
            <a:avLst/>
          </a:prstGeom>
          <a:solidFill>
            <a:srgbClr val="12A7A3">
              <a:alpha val="95000"/>
            </a:srgbClr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96112" y="134416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89888" y="12801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2688" y="1719072"/>
            <a:ext cx="4581144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the mean change when the same participants are measured twice?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EAF3FE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99632" y="1261872"/>
            <a:ext cx="384048" cy="384048"/>
          </a:xfrm>
          <a:prstGeom prst="ellipse">
            <a:avLst/>
          </a:prstGeom>
          <a:solidFill>
            <a:srgbClr val="2B78C2">
              <a:alpha val="95000"/>
            </a:srgbClr>
          </a:solidFill>
          <a:ln w="12700">
            <a:solidFill>
              <a:srgbClr val="2B78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99632" y="134416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Ex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93408" y="12801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236208" y="1719072"/>
            <a:ext cx="4809744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Pain score before treatment vs pain score after treatment in the same participants.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406908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23A5D"/>
                </a:solidFill>
              </a:rPr>
              <a:t>Key idea: two readings are connected, not independent.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097280" y="501091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37381"/>
                </a:solidFill>
              </a:rPr>
              <a:t>SPSS: Analyze → Compare Means → Paired-Samples T Test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AF3FE"/>
          </a:solidFill>
          <a:ln w="12700">
            <a:solidFill>
              <a:srgbClr val="EAF3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373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STATISTICAL TESTS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31089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ANOVA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850392"/>
            <a:ext cx="1828800" cy="0"/>
          </a:xfrm>
          <a:prstGeom prst="line">
            <a:avLst/>
          </a:prstGeom>
          <a:noFill/>
          <a:ln w="31750">
            <a:solidFill>
              <a:srgbClr val="12A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1051560"/>
            <a:ext cx="4937760" cy="1828800"/>
          </a:xfrm>
          <a:prstGeom prst="roundRect">
            <a:avLst>
              <a:gd name="adj" fmla="val 4000"/>
            </a:avLst>
          </a:prstGeom>
          <a:solidFill>
            <a:srgbClr val="EAF8F6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0392" y="1216152"/>
            <a:ext cx="384048" cy="384048"/>
          </a:xfrm>
          <a:prstGeom prst="ellipse">
            <a:avLst/>
          </a:prstGeom>
          <a:solidFill>
            <a:srgbClr val="12A7A3">
              <a:alpha val="95000"/>
            </a:srgbClr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50392" y="129844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44168" y="1234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86968" y="1673352"/>
            <a:ext cx="4535424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three or more independent groups have different mean values?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89320" y="105156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EAF3FE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53912" y="1216152"/>
            <a:ext cx="384048" cy="384048"/>
          </a:xfrm>
          <a:prstGeom prst="ellipse">
            <a:avLst/>
          </a:prstGeom>
          <a:solidFill>
            <a:srgbClr val="2B78C2">
              <a:alpha val="95000"/>
            </a:srgbClr>
          </a:solidFill>
          <a:ln w="12700">
            <a:solidFill>
              <a:srgbClr val="2B78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53912" y="129844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Ex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47688" y="12344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190488" y="1673352"/>
            <a:ext cx="4901184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mean plaque score among three toothpaste groups.</a:t>
            </a:r>
            <a:endParaRPr lang="en-US" sz="1500" dirty="0"/>
          </a:p>
        </p:txBody>
      </p:sp>
      <p:pic>
        <p:nvPicPr>
          <p:cNvPr id="18" name="Image 0" descr="/mnt/data/a_clean_flat_vector_infographic_on_a_white_backgr_batch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1744" y="3337560"/>
            <a:ext cx="3249472" cy="18288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097280" y="58064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37381"/>
                </a:solidFill>
              </a:rPr>
              <a:t>If ANOVA is significant, use post-hoc tests to see which groups differ.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AF3FE"/>
          </a:solidFill>
          <a:ln w="12700">
            <a:solidFill>
              <a:srgbClr val="EAF3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373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STATISTICAL TESTS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31089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Chi-square test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850392"/>
            <a:ext cx="1828800" cy="0"/>
          </a:xfrm>
          <a:prstGeom prst="line">
            <a:avLst/>
          </a:prstGeom>
          <a:noFill/>
          <a:ln w="31750">
            <a:solidFill>
              <a:srgbClr val="12A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1005840"/>
            <a:ext cx="4572000" cy="1828800"/>
          </a:xfrm>
          <a:prstGeom prst="roundRect">
            <a:avLst>
              <a:gd name="adj" fmla="val 4000"/>
            </a:avLst>
          </a:prstGeom>
          <a:solidFill>
            <a:srgbClr val="EAF8F6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0392" y="1170432"/>
            <a:ext cx="384048" cy="384048"/>
          </a:xfrm>
          <a:prstGeom prst="ellipse">
            <a:avLst/>
          </a:prstGeom>
          <a:solidFill>
            <a:srgbClr val="12A7A3">
              <a:alpha val="95000"/>
            </a:srgbClr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50392" y="125272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44168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86968" y="1627632"/>
            <a:ext cx="4169664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two categorical variables associated?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3246120"/>
            <a:ext cx="4572000" cy="1828800"/>
          </a:xfrm>
          <a:prstGeom prst="roundRect">
            <a:avLst>
              <a:gd name="adj" fmla="val 4000"/>
            </a:avLst>
          </a:prstGeom>
          <a:solidFill>
            <a:srgbClr val="EAF3FE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50392" y="3410712"/>
            <a:ext cx="384048" cy="384048"/>
          </a:xfrm>
          <a:prstGeom prst="ellipse">
            <a:avLst/>
          </a:prstGeom>
          <a:solidFill>
            <a:srgbClr val="2B78C2">
              <a:alpha val="95000"/>
            </a:srgbClr>
          </a:solidFill>
          <a:ln w="12700">
            <a:solidFill>
              <a:srgbClr val="2B78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50392" y="349300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Ex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44168" y="3429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86968" y="3867912"/>
            <a:ext cx="4169664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treatment group associated with improvement: Yes/No?</a:t>
            </a:r>
            <a:endParaRPr lang="en-US" sz="1500" dirty="0"/>
          </a:p>
        </p:txBody>
      </p:sp>
      <p:pic>
        <p:nvPicPr>
          <p:cNvPr id="18" name="Image 0" descr="/mnt/data/a_clean_vector_infographic_on_a_white_background_s_batch_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639412"/>
            <a:ext cx="5303520" cy="298481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097280" y="5989320"/>
            <a:ext cx="9875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37381"/>
                </a:solidFill>
              </a:rPr>
              <a:t>SPSS: Analyze → Descriptive Statistics → Crosstabs → Chi-square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AF3FE"/>
          </a:solidFill>
          <a:ln w="12700">
            <a:solidFill>
              <a:srgbClr val="EAF3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373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STATISTICAL TESTS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31089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Regression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850392"/>
            <a:ext cx="1828800" cy="0"/>
          </a:xfrm>
          <a:prstGeom prst="line">
            <a:avLst/>
          </a:prstGeom>
          <a:noFill/>
          <a:ln w="31750">
            <a:solidFill>
              <a:srgbClr val="12A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1051560"/>
            <a:ext cx="4800600" cy="1874520"/>
          </a:xfrm>
          <a:prstGeom prst="roundRect">
            <a:avLst>
              <a:gd name="adj" fmla="val 3902"/>
            </a:avLst>
          </a:prstGeom>
          <a:solidFill>
            <a:srgbClr val="EAF8F6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0392" y="1216152"/>
            <a:ext cx="384048" cy="384048"/>
          </a:xfrm>
          <a:prstGeom prst="ellipse">
            <a:avLst/>
          </a:prstGeom>
          <a:solidFill>
            <a:srgbClr val="12A7A3">
              <a:alpha val="95000"/>
            </a:srgbClr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50392" y="129844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44168" y="12344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86968" y="1673352"/>
            <a:ext cx="4398264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one or more variables explain or predict an outcome?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3337560"/>
            <a:ext cx="4800600" cy="1874520"/>
          </a:xfrm>
          <a:prstGeom prst="roundRect">
            <a:avLst>
              <a:gd name="adj" fmla="val 3902"/>
            </a:avLst>
          </a:prstGeom>
          <a:solidFill>
            <a:srgbClr val="EAF3FE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50392" y="3502152"/>
            <a:ext cx="384048" cy="384048"/>
          </a:xfrm>
          <a:prstGeom prst="ellipse">
            <a:avLst/>
          </a:prstGeom>
          <a:solidFill>
            <a:srgbClr val="2B78C2">
              <a:alpha val="95000"/>
            </a:srgbClr>
          </a:solidFill>
          <a:ln w="12700">
            <a:solidFill>
              <a:srgbClr val="2B78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50392" y="358444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Ex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44168" y="35204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86968" y="3959352"/>
            <a:ext cx="4398264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age, brushing frequency and baseline score predict final plaque score?</a:t>
            </a:r>
            <a:endParaRPr lang="en-US" sz="1500" dirty="0"/>
          </a:p>
        </p:txBody>
      </p:sp>
      <p:pic>
        <p:nvPicPr>
          <p:cNvPr id="18" name="Image 0" descr="/mnt/data/clean_vector_flat_illustration_of_a_data_analysis_batch_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672266"/>
            <a:ext cx="5349240" cy="3010547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AF3FE"/>
          </a:solidFill>
          <a:ln w="12700">
            <a:solidFill>
              <a:srgbClr val="EAF3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373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31089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report results simply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850392"/>
            <a:ext cx="1828800" cy="0"/>
          </a:xfrm>
          <a:prstGeom prst="line">
            <a:avLst/>
          </a:prstGeom>
          <a:noFill/>
          <a:ln w="31750">
            <a:solidFill>
              <a:srgbClr val="12A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118872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96112" y="1353312"/>
            <a:ext cx="384048" cy="384048"/>
          </a:xfrm>
          <a:prstGeom prst="ellipse">
            <a:avLst/>
          </a:prstGeom>
          <a:solidFill>
            <a:srgbClr val="12A7A3">
              <a:alpha val="95000"/>
            </a:srgbClr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96112" y="143560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89888" y="13716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Describe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2688" y="1810512"/>
            <a:ext cx="3026664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mean ± SD or frequency (%).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89120" y="118872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53712" y="1353312"/>
            <a:ext cx="384048" cy="384048"/>
          </a:xfrm>
          <a:prstGeom prst="ellipse">
            <a:avLst/>
          </a:prstGeom>
          <a:solidFill>
            <a:srgbClr val="2B78C2">
              <a:alpha val="95000"/>
            </a:srgbClr>
          </a:solidFill>
          <a:ln w="12700">
            <a:solidFill>
              <a:srgbClr val="2B78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53712" y="143560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47488" y="13716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90288" y="1810512"/>
            <a:ext cx="3026664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Mention the statistical test used.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46720" y="118872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211312" y="1353312"/>
            <a:ext cx="384048" cy="384048"/>
          </a:xfrm>
          <a:prstGeom prst="ellipse">
            <a:avLst/>
          </a:prstGeom>
          <a:solidFill>
            <a:srgbClr val="7868C9">
              <a:alpha val="95000"/>
            </a:srgbClr>
          </a:solidFill>
          <a:ln w="12700">
            <a:solidFill>
              <a:srgbClr val="7868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11312" y="143560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705088" y="13716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Conclude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47888" y="1810512"/>
            <a:ext cx="3026664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p-value and plain-language meaning.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97280" y="4023360"/>
            <a:ext cx="10012680" cy="960120"/>
          </a:xfrm>
          <a:prstGeom prst="roundRect">
            <a:avLst>
              <a:gd name="adj" fmla="val 7619"/>
            </a:avLst>
          </a:prstGeom>
          <a:solidFill>
            <a:srgbClr val="EAF8F6"/>
          </a:solidFill>
          <a:ln w="12700">
            <a:solidFill>
              <a:srgbClr val="EAF8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325880" y="4279392"/>
            <a:ext cx="96012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A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Mean pain score decreased from 6.1 ± 1.4 to 3.2 ± 1.1 after treatment (paired t-test, p &lt; 0.001).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AF3FE"/>
          </a:solidFill>
          <a:ln w="12700">
            <a:solidFill>
              <a:srgbClr val="EAF3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373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31089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mistakes to avoid in SPSS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850392"/>
            <a:ext cx="1828800" cy="0"/>
          </a:xfrm>
          <a:prstGeom prst="line">
            <a:avLst/>
          </a:prstGeom>
          <a:noFill/>
          <a:ln w="31750">
            <a:solidFill>
              <a:srgbClr val="12A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1252728"/>
            <a:ext cx="109728" cy="109728"/>
          </a:xfrm>
          <a:prstGeom prst="ellipse">
            <a:avLst/>
          </a:prstGeom>
          <a:solidFill>
            <a:srgbClr val="F15A5A"/>
          </a:solidFill>
          <a:ln w="12700">
            <a:solidFill>
              <a:srgbClr val="F15A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06424" y="1143000"/>
            <a:ext cx="1018641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Entering categories as text when numeric codes are easier.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68680" y="1911096"/>
            <a:ext cx="109728" cy="109728"/>
          </a:xfrm>
          <a:prstGeom prst="ellipse">
            <a:avLst/>
          </a:prstGeom>
          <a:solidFill>
            <a:srgbClr val="F15A5A"/>
          </a:solidFill>
          <a:ln w="12700">
            <a:solidFill>
              <a:srgbClr val="F15A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06424" y="1801368"/>
            <a:ext cx="1018641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Choosing “Scale” for categorical data such as Yes/No.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68680" y="2569464"/>
            <a:ext cx="109728" cy="109728"/>
          </a:xfrm>
          <a:prstGeom prst="ellipse">
            <a:avLst/>
          </a:prstGeom>
          <a:solidFill>
            <a:srgbClr val="F15A5A"/>
          </a:solidFill>
          <a:ln w="12700">
            <a:solidFill>
              <a:srgbClr val="F15A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06424" y="2459736"/>
            <a:ext cx="1018641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independent t-test for before/after readings.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68680" y="3227832"/>
            <a:ext cx="109728" cy="109728"/>
          </a:xfrm>
          <a:prstGeom prst="ellipse">
            <a:avLst/>
          </a:prstGeom>
          <a:solidFill>
            <a:srgbClr val="F15A5A"/>
          </a:solidFill>
          <a:ln w="12700">
            <a:solidFill>
              <a:srgbClr val="F15A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06424" y="3118104"/>
            <a:ext cx="1018641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Ignoring missing values and outliers before analysis.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68680" y="3886200"/>
            <a:ext cx="109728" cy="109728"/>
          </a:xfrm>
          <a:prstGeom prst="ellipse">
            <a:avLst/>
          </a:prstGeom>
          <a:solidFill>
            <a:srgbClr val="F15A5A"/>
          </a:solidFill>
          <a:ln w="12700">
            <a:solidFill>
              <a:srgbClr val="F15A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06424" y="3776472"/>
            <a:ext cx="1018641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p-value without explaining what it means.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AF3FE"/>
          </a:solidFill>
          <a:ln w="12700">
            <a:solidFill>
              <a:srgbClr val="EAF3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373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31089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Hands-on activity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850392"/>
            <a:ext cx="1828800" cy="0"/>
          </a:xfrm>
          <a:prstGeom prst="line">
            <a:avLst/>
          </a:prstGeom>
          <a:noFill/>
          <a:ln w="31750">
            <a:solidFill>
              <a:srgbClr val="12A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1097280"/>
            <a:ext cx="34290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96112" y="1261872"/>
            <a:ext cx="384048" cy="384048"/>
          </a:xfrm>
          <a:prstGeom prst="ellipse">
            <a:avLst/>
          </a:prstGeom>
          <a:solidFill>
            <a:srgbClr val="12A7A3">
              <a:alpha val="95000"/>
            </a:srgbClr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96112" y="134416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89888" y="12801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2688" y="1719072"/>
            <a:ext cx="3026664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variables in Variable View.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89120" y="1097280"/>
            <a:ext cx="34290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53712" y="1261872"/>
            <a:ext cx="384048" cy="384048"/>
          </a:xfrm>
          <a:prstGeom prst="ellipse">
            <a:avLst/>
          </a:prstGeom>
          <a:solidFill>
            <a:srgbClr val="2B78C2">
              <a:alpha val="95000"/>
            </a:srgbClr>
          </a:solidFill>
          <a:ln w="12700">
            <a:solidFill>
              <a:srgbClr val="2B78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53712" y="134416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47488" y="12801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90288" y="1719072"/>
            <a:ext cx="3026664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 10 sample records in Data View.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46720" y="1097280"/>
            <a:ext cx="34290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211312" y="1261872"/>
            <a:ext cx="384048" cy="384048"/>
          </a:xfrm>
          <a:prstGeom prst="ellipse">
            <a:avLst/>
          </a:prstGeom>
          <a:solidFill>
            <a:srgbClr val="7868C9">
              <a:alpha val="95000"/>
            </a:srgbClr>
          </a:solidFill>
          <a:ln w="12700">
            <a:solidFill>
              <a:srgbClr val="7868C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11312" y="134416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705088" y="12801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47888" y="1719072"/>
            <a:ext cx="3026664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frequencies and descriptives.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468880" y="3337560"/>
            <a:ext cx="34290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633472" y="3502152"/>
            <a:ext cx="384048" cy="384048"/>
          </a:xfrm>
          <a:prstGeom prst="ellipse">
            <a:avLst/>
          </a:prstGeom>
          <a:solidFill>
            <a:srgbClr val="F3B041">
              <a:alpha val="95000"/>
            </a:srgbClr>
          </a:solidFill>
          <a:ln w="12700">
            <a:solidFill>
              <a:srgbClr val="F3B04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633472" y="358444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127248" y="35204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4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2670048" y="3959352"/>
            <a:ext cx="3026664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 test using the decision table.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09360" y="3337560"/>
            <a:ext cx="34290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473952" y="3502152"/>
            <a:ext cx="384048" cy="384048"/>
          </a:xfrm>
          <a:prstGeom prst="ellipse">
            <a:avLst/>
          </a:prstGeom>
          <a:solidFill>
            <a:srgbClr val="00A875">
              <a:alpha val="95000"/>
            </a:srgbClr>
          </a:solidFill>
          <a:ln w="12700">
            <a:solidFill>
              <a:srgbClr val="00A87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73952" y="358444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67728" y="35204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5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510528" y="3959352"/>
            <a:ext cx="3026664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a one-line interpretation.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AF3FE"/>
          </a:solidFill>
          <a:ln w="12700">
            <a:solidFill>
              <a:srgbClr val="EAF3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51052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373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6928" y="31089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take-home messages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850392"/>
            <a:ext cx="1828800" cy="0"/>
          </a:xfrm>
          <a:prstGeom prst="line">
            <a:avLst/>
          </a:prstGeom>
          <a:noFill/>
          <a:ln w="31750">
            <a:solidFill>
              <a:srgbClr val="12A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1252728"/>
            <a:ext cx="109728" cy="109728"/>
          </a:xfrm>
          <a:prstGeom prst="ellipse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06424" y="1143000"/>
            <a:ext cx="1036929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the research question, not the software menu.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68680" y="1911096"/>
            <a:ext cx="109728" cy="109728"/>
          </a:xfrm>
          <a:prstGeom prst="ellipse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06424" y="1801368"/>
            <a:ext cx="1036929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variable type before choosing statistics.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68680" y="2569464"/>
            <a:ext cx="109728" cy="109728"/>
          </a:xfrm>
          <a:prstGeom prst="ellipse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06424" y="2459736"/>
            <a:ext cx="1036929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descriptive statistics before inferential tests.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68680" y="3227832"/>
            <a:ext cx="109728" cy="109728"/>
          </a:xfrm>
          <a:prstGeom prst="ellipse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06424" y="3118104"/>
            <a:ext cx="1036929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tests according to groups, outcome type and data structure.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68680" y="3886200"/>
            <a:ext cx="109728" cy="109728"/>
          </a:xfrm>
          <a:prstGeom prst="ellipse">
            <a:avLst/>
          </a:prstGeom>
          <a:solidFill>
            <a:srgbClr val="12A7A3"/>
          </a:solidFill>
          <a:ln w="12700">
            <a:solidFill>
              <a:srgbClr val="12A7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06424" y="3776472"/>
            <a:ext cx="1036929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F2D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results with both numbers and plain meaning.</a:t>
            </a:r>
            <a:endParaRPr 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2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A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650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96573"/>
                </a:solidFill>
              </a:defRPr>
            </a:pPr>
            <a:r>
              <a:t>REFERENCE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00000"/>
            <a:ext cx="9000000" cy="4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375B"/>
                </a:solidFill>
              </a:defRPr>
            </a:pPr>
            <a:r>
              <a:t>More study &amp; reference material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850000"/>
            <a:ext cx="1830000" cy="16000"/>
          </a:xfrm>
          <a:prstGeom prst="rect">
            <a:avLst/>
          </a:prstGeom>
          <a:solidFill>
            <a:srgbClr val="12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0000" y="1180000"/>
            <a:ext cx="7200000" cy="1420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8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40000" y="1440000"/>
            <a:ext cx="430000" cy="430000"/>
          </a:xfrm>
          <a:prstGeom prst="ellipse">
            <a:avLst/>
          </a:prstGeom>
          <a:solidFill>
            <a:srgbClr val="12A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0000" y="1490000"/>
            <a:ext cx="43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0000" y="1390000"/>
            <a:ext cx="612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375B"/>
                </a:solidFill>
              </a:defRPr>
            </a:pPr>
            <a:r>
              <a:t>Kent State University Libraries: SPSS Recode Variables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0000" y="1770000"/>
            <a:ext cx="61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4606E"/>
                </a:solidFill>
              </a:defRPr>
            </a:pPr>
            <a:r>
              <a:t>Step-by-step guide for recoding old values into new categories in SPSS.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0000" y="2190000"/>
            <a:ext cx="612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2A7A3"/>
                </a:solidFill>
                <a:hlinkClick r:id="rId2"/>
              </a:rPr>
              <a:t>https://libguides.library.kent.edu/SPSS/RecodeVariables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000" y="2960000"/>
            <a:ext cx="7200000" cy="1420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8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40000" y="3220000"/>
            <a:ext cx="430000" cy="430000"/>
          </a:xfrm>
          <a:prstGeom prst="ellipse">
            <a:avLst/>
          </a:prstGeom>
          <a:solidFill>
            <a:srgbClr val="267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0000" y="3270000"/>
            <a:ext cx="43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0000" y="3170000"/>
            <a:ext cx="612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375B"/>
                </a:solidFill>
              </a:defRPr>
            </a:pPr>
            <a:r>
              <a:t>Recommended 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0000" y="3550000"/>
            <a:ext cx="61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4606E"/>
                </a:solidFill>
              </a:defRPr>
            </a:pPr>
            <a:r>
              <a:t>Quantitative Data Analysis Using SPSS: An Introduction for Health and Social Science — Pete Greasley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000" y="4720000"/>
            <a:ext cx="7200000" cy="850000"/>
          </a:xfrm>
          <a:prstGeom prst="roundRect">
            <a:avLst/>
          </a:prstGeom>
          <a:solidFill>
            <a:srgbClr val="EE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0000" y="4870000"/>
            <a:ext cx="6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1375B"/>
                </a:solidFill>
              </a:defRPr>
            </a:pPr>
            <a:r>
              <a:t>Use these resources after the workshop to repeat SPSS commands, practice recoding, and revise basic analysis steps.</a:t>
            </a:r>
          </a:p>
        </p:txBody>
      </p:sp>
      <p:pic>
        <p:nvPicPr>
          <p:cNvPr id="21" name="Picture 20" descr="Screenshot 2026-08-18 2229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0000" y="1120000"/>
            <a:ext cx="2780623" cy="3920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600000" y="5230000"/>
            <a:ext cx="26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54606E"/>
                </a:solidFill>
              </a:defRPr>
            </a:pPr>
            <a:r>
              <a:t>Beginner-friendly SPSS reading for basic data analysis practice.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lean_vector_illustration_scene_of_a_modern_batch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7" y="0"/>
            <a:ext cx="1218552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1051560" y="1645920"/>
            <a:ext cx="5029200" cy="2423160"/>
          </a:xfrm>
          <a:prstGeom prst="roundRect">
            <a:avLst>
              <a:gd name="adj" fmla="val 3019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417320" y="20574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2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1417320" y="285292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A7A3"/>
                </a:solidFill>
              </a:rPr>
              <a:t>Questions &amp; Discussion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417320" y="34564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37381"/>
                </a:solidFill>
              </a:rPr>
              <a:t>Safoorah Sabir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2164</Words>
  <Application>Microsoft Office PowerPoint</Application>
  <PresentationFormat>Widescreen</PresentationFormat>
  <Paragraphs>494</Paragraphs>
  <Slides>40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IMDC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Biostatistics &amp; SPSS Workshop</dc:title>
  <dc:subject>Biostatistics and SPSS Workshop</dc:subject>
  <dc:creator>OpenAI</dc:creator>
  <cp:lastModifiedBy>Safoorah Sabir</cp:lastModifiedBy>
  <cp:revision>2</cp:revision>
  <dcterms:created xsi:type="dcterms:W3CDTF">2026-08-18T12:49:20Z</dcterms:created>
  <dcterms:modified xsi:type="dcterms:W3CDTF">2026-08-18T17:40:39Z</dcterms:modified>
</cp:coreProperties>
</file>